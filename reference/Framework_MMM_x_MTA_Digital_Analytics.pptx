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12192000"/>
  <p:embeddedFontLst>
    <p:embeddedFont>
      <p:font typeface="Roboto"/>
      <p:regular r:id="rId41"/>
      <p:bold r:id="rId42"/>
      <p:italic r:id="rId43"/>
      <p:boldItalic r:id="rId44"/>
    </p:embeddedFont>
    <p:embeddedFont>
      <p:font typeface="Tahoma"/>
      <p:regular r:id="rId45"/>
      <p:bold r:id="rId46"/>
    </p:embeddedFont>
    <p:embeddedFont>
      <p:font typeface="Comfortaa"/>
      <p:regular r:id="rId47"/>
      <p:bold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9" roundtripDataSignature="AMtx7miO0V63T9Qh/d1eysh7GsYDfZCM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AA15C9-5FAD-4DD2-8E68-FDBF2CEA2301}">
  <a:tblStyle styleId="{84AA15C9-5FAD-4DD2-8E68-FDBF2CEA230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44" Type="http://schemas.openxmlformats.org/officeDocument/2006/relationships/font" Target="fonts/Roboto-boldItalic.fntdata"/><Relationship Id="rId43" Type="http://schemas.openxmlformats.org/officeDocument/2006/relationships/font" Target="fonts/Roboto-italic.fntdata"/><Relationship Id="rId46" Type="http://schemas.openxmlformats.org/officeDocument/2006/relationships/font" Target="fonts/Tahoma-bold.fntdata"/><Relationship Id="rId45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omfortaa-bold.fntdata"/><Relationship Id="rId47" Type="http://schemas.openxmlformats.org/officeDocument/2006/relationships/font" Target="fonts/Comfortaa-regular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f3e316a234_0_50:notes"/>
          <p:cNvSpPr/>
          <p:nvPr>
            <p:ph idx="2" type="sldImg"/>
          </p:nvPr>
        </p:nvSpPr>
        <p:spPr>
          <a:xfrm>
            <a:off x="685800" y="1524000"/>
            <a:ext cx="54864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g3f3e316a234_0_50:notes"/>
          <p:cNvSpPr txBox="1"/>
          <p:nvPr>
            <p:ph idx="1" type="body"/>
          </p:nvPr>
        </p:nvSpPr>
        <p:spPr>
          <a:xfrm>
            <a:off x="685800" y="5867400"/>
            <a:ext cx="5486400" cy="4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  </a:t>
            </a:r>
            <a:endParaRPr/>
          </a:p>
        </p:txBody>
      </p:sp>
      <p:sp>
        <p:nvSpPr>
          <p:cNvPr id="23" name="Google Shape;23;g3f3e316a234_0_50:notes"/>
          <p:cNvSpPr txBox="1"/>
          <p:nvPr>
            <p:ph idx="12" type="sldNum"/>
          </p:nvPr>
        </p:nvSpPr>
        <p:spPr>
          <a:xfrm>
            <a:off x="3884613" y="11580284"/>
            <a:ext cx="2971800" cy="611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e316a234_0_0:notes"/>
          <p:cNvSpPr txBox="1"/>
          <p:nvPr>
            <p:ph idx="1" type="body"/>
          </p:nvPr>
        </p:nvSpPr>
        <p:spPr>
          <a:xfrm>
            <a:off x="685800" y="5791171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3f3e316a234_0_0:notes"/>
          <p:cNvSpPr/>
          <p:nvPr>
            <p:ph idx="2" type="sldImg"/>
          </p:nvPr>
        </p:nvSpPr>
        <p:spPr>
          <a:xfrm>
            <a:off x="1143225" y="914371"/>
            <a:ext cx="4572300" cy="4571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" name="Google Shape;44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9" name="Google Shape;71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7" name="Google Shape;73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3" name="Google Shape;86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8" name="Google Shape;88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0" name="Google Shape;103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3e316a234_0_45"/>
          <p:cNvSpPr txBox="1"/>
          <p:nvPr>
            <p:ph type="title"/>
          </p:nvPr>
        </p:nvSpPr>
        <p:spPr>
          <a:xfrm>
            <a:off x="1238303" y="2438549"/>
            <a:ext cx="97152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b="1" i="0" sz="28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13" name="Google Shape;13;g3f3e316a234_0_45"/>
          <p:cNvSpPr txBox="1"/>
          <p:nvPr>
            <p:ph idx="11" type="ftr"/>
          </p:nvPr>
        </p:nvSpPr>
        <p:spPr>
          <a:xfrm>
            <a:off x="4145280" y="6377940"/>
            <a:ext cx="3901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14" name="Google Shape;14;g3f3e316a234_0_45"/>
          <p:cNvSpPr txBox="1"/>
          <p:nvPr>
            <p:ph idx="10" type="dt"/>
          </p:nvPr>
        </p:nvSpPr>
        <p:spPr>
          <a:xfrm>
            <a:off x="609600" y="6377940"/>
            <a:ext cx="28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15" name="Google Shape;15;g3f3e316a234_0_45"/>
          <p:cNvSpPr txBox="1"/>
          <p:nvPr>
            <p:ph idx="12" type="sldNum"/>
          </p:nvPr>
        </p:nvSpPr>
        <p:spPr>
          <a:xfrm>
            <a:off x="8778240" y="6377940"/>
            <a:ext cx="280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lide de Título">
  <p:cSld name="1_Slide de Título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3e316a234_0_145"/>
          <p:cNvSpPr txBox="1"/>
          <p:nvPr>
            <p:ph idx="10" type="dt"/>
          </p:nvPr>
        </p:nvSpPr>
        <p:spPr>
          <a:xfrm>
            <a:off x="838200" y="6356351"/>
            <a:ext cx="2743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8" name="Google Shape;18;g3f3e316a234_0_145"/>
          <p:cNvSpPr txBox="1"/>
          <p:nvPr>
            <p:ph idx="11" type="ftr"/>
          </p:nvPr>
        </p:nvSpPr>
        <p:spPr>
          <a:xfrm>
            <a:off x="4038600" y="6356351"/>
            <a:ext cx="4114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19" name="Google Shape;19;g3f3e316a234_0_145"/>
          <p:cNvSpPr txBox="1"/>
          <p:nvPr>
            <p:ph idx="12" type="sldNum"/>
          </p:nvPr>
        </p:nvSpPr>
        <p:spPr>
          <a:xfrm>
            <a:off x="8610600" y="6356351"/>
            <a:ext cx="2743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ue and black circle&#10;&#10;Description automatically generated" id="25" name="Google Shape;25;g3f3e316a234_0_50"/>
          <p:cNvPicPr preferRelativeResize="0"/>
          <p:nvPr/>
        </p:nvPicPr>
        <p:blipFill rotWithShape="1">
          <a:blip r:embed="rId3">
            <a:alphaModFix amt="90000"/>
          </a:blip>
          <a:srcRect b="8509" l="3670" r="0" t="0"/>
          <a:stretch/>
        </p:blipFill>
        <p:spPr>
          <a:xfrm rot="10800000">
            <a:off x="10881354" y="0"/>
            <a:ext cx="1318599" cy="87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black circle&#10;&#10;Description automatically generated" id="26" name="Google Shape;26;g3f3e316a234_0_50"/>
          <p:cNvPicPr preferRelativeResize="0"/>
          <p:nvPr/>
        </p:nvPicPr>
        <p:blipFill rotWithShape="1">
          <a:blip r:embed="rId3">
            <a:alphaModFix amt="90000"/>
          </a:blip>
          <a:srcRect b="8509" l="3670" r="0" t="0"/>
          <a:stretch/>
        </p:blipFill>
        <p:spPr>
          <a:xfrm>
            <a:off x="0" y="5154767"/>
            <a:ext cx="2593600" cy="1713266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g3f3e316a234_0_50"/>
          <p:cNvSpPr txBox="1"/>
          <p:nvPr/>
        </p:nvSpPr>
        <p:spPr>
          <a:xfrm>
            <a:off x="662533" y="2223833"/>
            <a:ext cx="55803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Documentação | Data Analytics | 202</a:t>
            </a:r>
            <a:r>
              <a:rPr lang="en-US" sz="1900">
                <a:latin typeface="Comfortaa"/>
                <a:ea typeface="Comfortaa"/>
                <a:cs typeface="Comfortaa"/>
                <a:sym typeface="Comfortaa"/>
              </a:rPr>
              <a:t>6</a:t>
            </a:r>
            <a:endParaRPr b="0" i="0" sz="1900" u="none" cap="none" strike="noStrike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8" name="Google Shape;28;g3f3e316a234_0_50"/>
          <p:cNvSpPr txBox="1"/>
          <p:nvPr/>
        </p:nvSpPr>
        <p:spPr>
          <a:xfrm>
            <a:off x="629000" y="2800333"/>
            <a:ext cx="11223900" cy="1032900"/>
          </a:xfrm>
          <a:prstGeom prst="rect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b="1" lang="en-US" sz="3700">
                <a:solidFill>
                  <a:srgbClr val="3C4043"/>
                </a:solidFill>
                <a:latin typeface="Comfortaa"/>
                <a:ea typeface="Comfortaa"/>
                <a:cs typeface="Comfortaa"/>
                <a:sym typeface="Comfortaa"/>
              </a:rPr>
              <a:t>MMM x MTA</a:t>
            </a:r>
            <a:r>
              <a:rPr b="1" i="0" lang="en-US" sz="3700" u="none" cap="none" strike="noStrike">
                <a:solidFill>
                  <a:srgbClr val="3C4043"/>
                </a:solidFill>
                <a:latin typeface="Comfortaa"/>
                <a:ea typeface="Comfortaa"/>
                <a:cs typeface="Comfortaa"/>
                <a:sym typeface="Comfortaa"/>
              </a:rPr>
              <a:t> Framework</a:t>
            </a:r>
            <a:endParaRPr b="1" i="0" sz="3200" u="none" cap="none" strike="noStrike">
              <a:solidFill>
                <a:srgbClr val="3C4043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lang="en-US" sz="2100">
                <a:solidFill>
                  <a:srgbClr val="3C4043"/>
                </a:solidFill>
                <a:latin typeface="Comfortaa"/>
                <a:ea typeface="Comfortaa"/>
                <a:cs typeface="Comfortaa"/>
                <a:sym typeface="Comfortaa"/>
              </a:rPr>
              <a:t>Marketing Mix Modeling e Multi-Touch Attribution aplicados a Digital Analytics</a:t>
            </a:r>
            <a:r>
              <a:rPr b="0" i="0" lang="en-US" sz="2900" u="none" cap="none" strike="noStrike">
                <a:solidFill>
                  <a:srgbClr val="3C4043"/>
                </a:solidFill>
                <a:latin typeface="Comfortaa"/>
                <a:ea typeface="Comfortaa"/>
                <a:cs typeface="Comfortaa"/>
                <a:sym typeface="Comfortaa"/>
              </a:rPr>
              <a:t> </a:t>
            </a:r>
            <a:endParaRPr b="0" i="0" sz="2900" u="none" cap="none" strike="noStrike">
              <a:solidFill>
                <a:srgbClr val="3C404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Índice do Framework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4813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170432" y="14813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Sumário executivo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548640" y="17876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"/>
          <p:cNvSpPr/>
          <p:nvPr/>
        </p:nvSpPr>
        <p:spPr>
          <a:xfrm>
            <a:off x="548640" y="18242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170432" y="18242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Por que MMM x MTA agora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548640" y="21305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2"/>
          <p:cNvSpPr/>
          <p:nvPr/>
        </p:nvSpPr>
        <p:spPr>
          <a:xfrm>
            <a:off x="548640" y="21671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170432" y="21671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Conceito: Marketing Mix Modeling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" name="Google Shape;44;p2"/>
          <p:cNvCxnSpPr/>
          <p:nvPr/>
        </p:nvCxnSpPr>
        <p:spPr>
          <a:xfrm>
            <a:off x="548640" y="24734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"/>
          <p:cNvSpPr/>
          <p:nvPr/>
        </p:nvSpPr>
        <p:spPr>
          <a:xfrm>
            <a:off x="548640" y="25100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03B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1170432" y="25100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MMM também cobre mídia digital (Google/Meta Ads)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2"/>
          <p:cNvCxnSpPr/>
          <p:nvPr/>
        </p:nvCxnSpPr>
        <p:spPr>
          <a:xfrm>
            <a:off x="548640" y="28163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2"/>
          <p:cNvSpPr/>
          <p:nvPr/>
        </p:nvSpPr>
        <p:spPr>
          <a:xfrm>
            <a:off x="548640" y="28529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170432" y="28529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Conceito: Multi-Touch Attribution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548640" y="31592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"/>
          <p:cNvSpPr/>
          <p:nvPr/>
        </p:nvSpPr>
        <p:spPr>
          <a:xfrm>
            <a:off x="548640" y="31958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70432" y="31958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MMM vs. MTA — comparativo completo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" name="Google Shape;53;p2"/>
          <p:cNvCxnSpPr/>
          <p:nvPr/>
        </p:nvCxnSpPr>
        <p:spPr>
          <a:xfrm>
            <a:off x="548640" y="35021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" name="Google Shape;54;p2"/>
          <p:cNvSpPr/>
          <p:nvPr/>
        </p:nvSpPr>
        <p:spPr>
          <a:xfrm>
            <a:off x="548640" y="35387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170432" y="35387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Modelos de atribuição do GA4 (first-click a data-driven)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2"/>
          <p:cNvCxnSpPr/>
          <p:nvPr/>
        </p:nvCxnSpPr>
        <p:spPr>
          <a:xfrm>
            <a:off x="548640" y="38450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" name="Google Shape;57;p2"/>
          <p:cNvSpPr/>
          <p:nvPr/>
        </p:nvSpPr>
        <p:spPr>
          <a:xfrm>
            <a:off x="548640" y="38816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170432" y="38816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Matriz de decisão por cenário e por canal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2"/>
          <p:cNvCxnSpPr/>
          <p:nvPr/>
        </p:nvCxnSpPr>
        <p:spPr>
          <a:xfrm>
            <a:off x="548640" y="41879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2"/>
          <p:cNvSpPr/>
          <p:nvPr/>
        </p:nvSpPr>
        <p:spPr>
          <a:xfrm>
            <a:off x="548640" y="42245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1170432" y="42245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Google Ads, Meta Ads, TikTok Ads e outros canais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2"/>
          <p:cNvCxnSpPr/>
          <p:nvPr/>
        </p:nvCxnSpPr>
        <p:spPr>
          <a:xfrm>
            <a:off x="548640" y="45308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2"/>
          <p:cNvSpPr/>
          <p:nvPr/>
        </p:nvSpPr>
        <p:spPr>
          <a:xfrm>
            <a:off x="548640" y="45674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1170432" y="45674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Arquitetura unificada MMM + MTA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" name="Google Shape;65;p2"/>
          <p:cNvCxnSpPr/>
          <p:nvPr/>
        </p:nvCxnSpPr>
        <p:spPr>
          <a:xfrm>
            <a:off x="548640" y="48737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2"/>
          <p:cNvSpPr/>
          <p:nvPr/>
        </p:nvSpPr>
        <p:spPr>
          <a:xfrm>
            <a:off x="548640" y="49103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1170432" y="49103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Seu Data Layer como fundação (GTM/GA4)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2"/>
          <p:cNvCxnSpPr/>
          <p:nvPr/>
        </p:nvCxnSpPr>
        <p:spPr>
          <a:xfrm>
            <a:off x="548640" y="52166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9" name="Google Shape;69;p2"/>
          <p:cNvSpPr/>
          <p:nvPr/>
        </p:nvSpPr>
        <p:spPr>
          <a:xfrm>
            <a:off x="548640" y="52532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1170432" y="52532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Mapeamento de variáveis para MMM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2"/>
          <p:cNvCxnSpPr/>
          <p:nvPr/>
        </p:nvCxnSpPr>
        <p:spPr>
          <a:xfrm>
            <a:off x="548640" y="55595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2"/>
          <p:cNvSpPr/>
          <p:nvPr/>
        </p:nvSpPr>
        <p:spPr>
          <a:xfrm>
            <a:off x="548640" y="55961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1170432" y="55961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Mapeamento de variáveis para MTA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2"/>
          <p:cNvCxnSpPr/>
          <p:nvPr/>
        </p:nvCxnSpPr>
        <p:spPr>
          <a:xfrm>
            <a:off x="548640" y="59024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2"/>
          <p:cNvSpPr/>
          <p:nvPr/>
        </p:nvSpPr>
        <p:spPr>
          <a:xfrm>
            <a:off x="548640" y="59390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1170432" y="59390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Fluxo de dados etapa por etapa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2"/>
          <p:cNvCxnSpPr/>
          <p:nvPr/>
        </p:nvCxnSpPr>
        <p:spPr>
          <a:xfrm>
            <a:off x="548640" y="62453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2"/>
          <p:cNvSpPr/>
          <p:nvPr/>
        </p:nvSpPr>
        <p:spPr>
          <a:xfrm>
            <a:off x="6263640" y="14813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885432" y="14813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Arquitetura técnica do sistema de ML (BQML + Python)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0" name="Google Shape;80;p2"/>
          <p:cNvCxnSpPr/>
          <p:nvPr/>
        </p:nvCxnSpPr>
        <p:spPr>
          <a:xfrm>
            <a:off x="6263640" y="17876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" name="Google Shape;81;p2"/>
          <p:cNvSpPr/>
          <p:nvPr/>
        </p:nvSpPr>
        <p:spPr>
          <a:xfrm>
            <a:off x="6263640" y="18242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6885432" y="18242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Modelagem técnica MMM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" name="Google Shape;83;p2"/>
          <p:cNvCxnSpPr/>
          <p:nvPr/>
        </p:nvCxnSpPr>
        <p:spPr>
          <a:xfrm>
            <a:off x="6263640" y="21305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"/>
          <p:cNvSpPr/>
          <p:nvPr/>
        </p:nvSpPr>
        <p:spPr>
          <a:xfrm>
            <a:off x="6263640" y="21671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885432" y="21671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Modelagem técnica MTA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2"/>
          <p:cNvCxnSpPr/>
          <p:nvPr/>
        </p:nvCxnSpPr>
        <p:spPr>
          <a:xfrm>
            <a:off x="6263640" y="24734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2"/>
          <p:cNvSpPr/>
          <p:nvPr/>
        </p:nvSpPr>
        <p:spPr>
          <a:xfrm>
            <a:off x="6263640" y="25100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6885432" y="25100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MMM x MTA → Testes A/B (nova seção, 7 slides)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2"/>
          <p:cNvCxnSpPr/>
          <p:nvPr/>
        </p:nvCxnSpPr>
        <p:spPr>
          <a:xfrm>
            <a:off x="6263640" y="28163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2"/>
          <p:cNvSpPr/>
          <p:nvPr/>
        </p:nvSpPr>
        <p:spPr>
          <a:xfrm>
            <a:off x="6263640" y="28529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20.1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6885432" y="28529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Por que ligar atribuição a experimentação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2"/>
          <p:cNvCxnSpPr/>
          <p:nvPr/>
        </p:nvCxnSpPr>
        <p:spPr>
          <a:xfrm>
            <a:off x="6263640" y="31592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"/>
          <p:cNvSpPr/>
          <p:nvPr/>
        </p:nvSpPr>
        <p:spPr>
          <a:xfrm>
            <a:off x="6263640" y="31958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20.2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885432" y="31958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Seu framework de experimentação, etapa a etapa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2"/>
          <p:cNvCxnSpPr/>
          <p:nvPr/>
        </p:nvCxnSpPr>
        <p:spPr>
          <a:xfrm>
            <a:off x="6263640" y="35021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2"/>
          <p:cNvSpPr/>
          <p:nvPr/>
        </p:nvSpPr>
        <p:spPr>
          <a:xfrm>
            <a:off x="6263640" y="35387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20.3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885432" y="35387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MMM → Geo-Experiments / Holdout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6263640" y="38450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2"/>
          <p:cNvSpPr/>
          <p:nvPr/>
        </p:nvSpPr>
        <p:spPr>
          <a:xfrm>
            <a:off x="6263640" y="38816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20.4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6885432" y="38816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MTA → Hipóteses de funil, criativo e público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6263640" y="41879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"/>
          <p:cNvSpPr/>
          <p:nvPr/>
        </p:nvSpPr>
        <p:spPr>
          <a:xfrm>
            <a:off x="6263640" y="42245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20.5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885432" y="42245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Ferramentas e métodos por tipo de teste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6263640" y="45308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6263640" y="45674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20.6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6885432" y="45674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Loop de governança: MMM ⇄ MTA ⇄ A/B ⇄ Learning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2"/>
          <p:cNvCxnSpPr/>
          <p:nvPr/>
        </p:nvCxnSpPr>
        <p:spPr>
          <a:xfrm>
            <a:off x="6263640" y="48737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"/>
          <p:cNvSpPr/>
          <p:nvPr/>
        </p:nvSpPr>
        <p:spPr>
          <a:xfrm>
            <a:off x="6263640" y="49103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17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885432" y="49103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Feature Store — especificação técnica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" name="Google Shape;110;p2"/>
          <p:cNvCxnSpPr/>
          <p:nvPr/>
        </p:nvCxnSpPr>
        <p:spPr>
          <a:xfrm>
            <a:off x="6263640" y="52166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" name="Google Shape;111;p2"/>
          <p:cNvSpPr/>
          <p:nvPr/>
        </p:nvSpPr>
        <p:spPr>
          <a:xfrm>
            <a:off x="6263640" y="52532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885432" y="52532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Roadmap de implementação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2"/>
          <p:cNvCxnSpPr/>
          <p:nvPr/>
        </p:nvCxnSpPr>
        <p:spPr>
          <a:xfrm>
            <a:off x="6263640" y="55595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"/>
          <p:cNvSpPr/>
          <p:nvPr/>
        </p:nvSpPr>
        <p:spPr>
          <a:xfrm>
            <a:off x="6263640" y="5596128"/>
            <a:ext cx="56692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mbria"/>
              <a:buNone/>
            </a:pPr>
            <a:r>
              <a:rPr b="1" i="0" lang="en-US" sz="125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19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885432" y="5596128"/>
            <a:ext cx="4773168" cy="3154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80"/>
              <a:buFont typeface="Calibri"/>
              <a:buNone/>
            </a:pPr>
            <a:r>
              <a:rPr b="0" i="0" lang="en-US" sz="108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Governança, QA e boas práticas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2"/>
          <p:cNvCxnSpPr/>
          <p:nvPr/>
        </p:nvCxnSpPr>
        <p:spPr>
          <a:xfrm>
            <a:off x="6263640" y="5902452"/>
            <a:ext cx="5394960" cy="0"/>
          </a:xfrm>
          <a:prstGeom prst="straightConnector1">
            <a:avLst/>
          </a:prstGeom>
          <a:noFill/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Índice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3e316a234_0_0"/>
          <p:cNvSpPr txBox="1"/>
          <p:nvPr/>
        </p:nvSpPr>
        <p:spPr>
          <a:xfrm>
            <a:off x="10693900" y="409277"/>
            <a:ext cx="1144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Conﬁdential</a:t>
            </a:r>
            <a:endParaRPr b="0" i="0" sz="8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g3f3e316a234_0_0"/>
          <p:cNvSpPr/>
          <p:nvPr/>
        </p:nvSpPr>
        <p:spPr>
          <a:xfrm>
            <a:off x="65" y="0"/>
            <a:ext cx="12184380" cy="6028730"/>
          </a:xfrm>
          <a:custGeom>
            <a:rect b="b" l="l" r="r" t="t"/>
            <a:pathLst>
              <a:path extrusionOk="0" h="4524375" w="9144000">
                <a:moveTo>
                  <a:pt x="9143999" y="4523999"/>
                </a:moveTo>
                <a:lnTo>
                  <a:pt x="0" y="4523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4523999"/>
                </a:lnTo>
                <a:close/>
              </a:path>
            </a:pathLst>
          </a:custGeom>
          <a:solidFill>
            <a:srgbClr val="07376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highlight>
                <a:srgbClr val="88888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3e316a234_0_0"/>
          <p:cNvSpPr txBox="1"/>
          <p:nvPr>
            <p:ph type="title"/>
          </p:nvPr>
        </p:nvSpPr>
        <p:spPr>
          <a:xfrm>
            <a:off x="3005233" y="2179067"/>
            <a:ext cx="88335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12700" rtl="0" algn="l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lang="en-US" sz="4800">
                <a:latin typeface="Comfortaa"/>
                <a:ea typeface="Comfortaa"/>
                <a:cs typeface="Comfortaa"/>
                <a:sym typeface="Comfortaa"/>
              </a:rPr>
              <a:t>MMM x MTA Framework</a:t>
            </a:r>
            <a:endParaRPr b="0" sz="48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7" name="Google Shape;127;g3f3e316a234_0_0"/>
          <p:cNvSpPr/>
          <p:nvPr/>
        </p:nvSpPr>
        <p:spPr>
          <a:xfrm>
            <a:off x="1266767" y="1965667"/>
            <a:ext cx="1493936" cy="1440838"/>
          </a:xfrm>
          <a:custGeom>
            <a:rect b="b" l="l" r="r" t="t"/>
            <a:pathLst>
              <a:path extrusionOk="0" h="574039" w="574039">
                <a:moveTo>
                  <a:pt x="286799" y="573599"/>
                </a:moveTo>
                <a:lnTo>
                  <a:pt x="240279" y="569846"/>
                </a:lnTo>
                <a:lnTo>
                  <a:pt x="196149" y="558978"/>
                </a:lnTo>
                <a:lnTo>
                  <a:pt x="154998" y="541587"/>
                </a:lnTo>
                <a:lnTo>
                  <a:pt x="117419" y="518264"/>
                </a:lnTo>
                <a:lnTo>
                  <a:pt x="84001" y="489598"/>
                </a:lnTo>
                <a:lnTo>
                  <a:pt x="55335" y="456180"/>
                </a:lnTo>
                <a:lnTo>
                  <a:pt x="32012" y="418601"/>
                </a:lnTo>
                <a:lnTo>
                  <a:pt x="14621" y="377450"/>
                </a:lnTo>
                <a:lnTo>
                  <a:pt x="3753" y="333320"/>
                </a:lnTo>
                <a:lnTo>
                  <a:pt x="0" y="286799"/>
                </a:lnTo>
                <a:lnTo>
                  <a:pt x="3753" y="240279"/>
                </a:lnTo>
                <a:lnTo>
                  <a:pt x="14621" y="196148"/>
                </a:lnTo>
                <a:lnTo>
                  <a:pt x="32012" y="154998"/>
                </a:lnTo>
                <a:lnTo>
                  <a:pt x="55335" y="117419"/>
                </a:lnTo>
                <a:lnTo>
                  <a:pt x="84001" y="84001"/>
                </a:lnTo>
                <a:lnTo>
                  <a:pt x="117419" y="55335"/>
                </a:lnTo>
                <a:lnTo>
                  <a:pt x="154998" y="32012"/>
                </a:lnTo>
                <a:lnTo>
                  <a:pt x="196149" y="14621"/>
                </a:lnTo>
                <a:lnTo>
                  <a:pt x="240279" y="3753"/>
                </a:lnTo>
                <a:lnTo>
                  <a:pt x="286799" y="0"/>
                </a:lnTo>
                <a:lnTo>
                  <a:pt x="331936" y="3572"/>
                </a:lnTo>
                <a:lnTo>
                  <a:pt x="375554" y="14078"/>
                </a:lnTo>
                <a:lnTo>
                  <a:pt x="416884" y="31197"/>
                </a:lnTo>
                <a:lnTo>
                  <a:pt x="455155" y="54611"/>
                </a:lnTo>
                <a:lnTo>
                  <a:pt x="489598" y="84001"/>
                </a:lnTo>
                <a:lnTo>
                  <a:pt x="518988" y="118444"/>
                </a:lnTo>
                <a:lnTo>
                  <a:pt x="542402" y="156715"/>
                </a:lnTo>
                <a:lnTo>
                  <a:pt x="559521" y="198045"/>
                </a:lnTo>
                <a:lnTo>
                  <a:pt x="570027" y="241663"/>
                </a:lnTo>
                <a:lnTo>
                  <a:pt x="573599" y="286799"/>
                </a:lnTo>
                <a:lnTo>
                  <a:pt x="569846" y="333320"/>
                </a:lnTo>
                <a:lnTo>
                  <a:pt x="558978" y="377450"/>
                </a:lnTo>
                <a:lnTo>
                  <a:pt x="541587" y="418601"/>
                </a:lnTo>
                <a:lnTo>
                  <a:pt x="518264" y="456180"/>
                </a:lnTo>
                <a:lnTo>
                  <a:pt x="489598" y="489598"/>
                </a:lnTo>
                <a:lnTo>
                  <a:pt x="456180" y="518264"/>
                </a:lnTo>
                <a:lnTo>
                  <a:pt x="418601" y="541587"/>
                </a:lnTo>
                <a:lnTo>
                  <a:pt x="377450" y="558978"/>
                </a:lnTo>
                <a:lnTo>
                  <a:pt x="333320" y="569846"/>
                </a:lnTo>
                <a:lnTo>
                  <a:pt x="286799" y="57359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3e316a234_0_0"/>
          <p:cNvSpPr txBox="1"/>
          <p:nvPr>
            <p:ph type="title"/>
          </p:nvPr>
        </p:nvSpPr>
        <p:spPr>
          <a:xfrm>
            <a:off x="3005233" y="2935067"/>
            <a:ext cx="90840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spAutoFit/>
          </a:bodyPr>
          <a:lstStyle/>
          <a:p>
            <a:pPr indent="0" lvl="0" marL="12700" marR="12700" rtl="0" algn="l">
              <a:lnSpc>
                <a:spcPct val="114599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b="0" lang="en-US" sz="2500">
                <a:latin typeface="Comfortaa"/>
                <a:ea typeface="Comfortaa"/>
                <a:cs typeface="Comfortaa"/>
                <a:sym typeface="Comfortaa"/>
              </a:rPr>
              <a:t>Marketing Mix Modeling e Multi-Touch Attribution</a:t>
            </a:r>
            <a:endParaRPr b="0" sz="25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29" name="Google Shape;129;g3f3e316a234_0_0"/>
          <p:cNvSpPr/>
          <p:nvPr/>
        </p:nvSpPr>
        <p:spPr>
          <a:xfrm>
            <a:off x="10667" y="5963231"/>
            <a:ext cx="12170700" cy="693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g3f3e316a234_0_0" title="marketing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1488" y="2203838"/>
            <a:ext cx="964500" cy="96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· EXECUTIVO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Sumário Executivo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02920" y="1417320"/>
            <a:ext cx="5669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 que este framework entrega: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502920" y="1828800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02920" y="181051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960120" y="1773936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Unifica MMM (visão agregada, top-down, privacy-safe) e MTA (visão granular, bottom-up, por touchpoint) em um único framework de decisão.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502920" y="2761488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02920" y="274320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60120" y="2706624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Usa como base o Data Layer/Tracking Plan já implementado (GTM → GA4 → BigQuery), aproveitando os eventos e parâmetros personalizados existentes.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502920" y="3694176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502920" y="36758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960120" y="3639312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Define, para cada cenário de negócio e cada canal pago (Google Ads, Meta Ads, TikTok Ads e outros), qual técnica de atribuição/modelagem é mais adequada.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502920" y="4626864"/>
            <a:ext cx="292608" cy="29260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"/>
          <p:cNvSpPr/>
          <p:nvPr/>
        </p:nvSpPr>
        <p:spPr>
          <a:xfrm>
            <a:off x="502920" y="46085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960120" y="4572000"/>
            <a:ext cx="5349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Serve de blueprint para a construção de um sistema de ML (BigQuery ML + Python) que estima contribuição incremental de mídia e otimiza alocação de budget.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6537960" y="1417320"/>
            <a:ext cx="5166360" cy="4892040"/>
          </a:xfrm>
          <a:prstGeom prst="rect">
            <a:avLst/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3"/>
          <p:cNvSpPr/>
          <p:nvPr/>
        </p:nvSpPr>
        <p:spPr>
          <a:xfrm>
            <a:off x="6858000" y="16276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POR QUE ISSO IMPORTA AGORA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858000" y="205740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40–60%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6858000" y="274320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da jornada é tudo que o MTA tradicional ainda consegue enxergar (era 80–90%) — iOS 14.5+, cookieless e consent mode reduziram a visibilidade.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6858000" y="34747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14–38%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858000" y="416052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ganho potencial de ROI em mídia ao aplicar MMM + MTA de forma combinada e orientada por dados (Accenture, 2021).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858000" y="489204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85–95%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6858000" y="557784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acurácia possível de um MMM moderno com dados de qualidade, contra 40–60% de um MTA puro no cenário atual de privacidade.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Sumário Executivo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02 · CONTEXTO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Por que combinar MMM x MTA agora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 atribuição tradicional (last-click / MTA puro) está estruturalmente quebrada no ambiente de privacidade atual.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457200" y="1874520"/>
            <a:ext cx="2697480" cy="1920240"/>
          </a:xfrm>
          <a:prstGeom prst="roundRect">
            <a:avLst>
              <a:gd fmla="val 381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621792" y="2029968"/>
            <a:ext cx="2368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iOS 14.5+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21792" y="2560320"/>
            <a:ext cx="236829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Bloqueia tracking para ~75% dos usuários mobile (ATT / IDFA restrito).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355848" y="1874520"/>
            <a:ext cx="2697480" cy="1920240"/>
          </a:xfrm>
          <a:prstGeom prst="roundRect">
            <a:avLst>
              <a:gd fmla="val 381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3520440" y="2029968"/>
            <a:ext cx="2368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Cookieless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520440" y="2560320"/>
            <a:ext cx="236829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Fim gradual de cookies de terceiros afeta grande parte do tráfego web.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254496" y="1874520"/>
            <a:ext cx="2697480" cy="1920240"/>
          </a:xfrm>
          <a:prstGeom prst="roundRect">
            <a:avLst>
              <a:gd fmla="val 381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6419088" y="2029968"/>
            <a:ext cx="2368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GDPR / LGPD / CCPA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/>
          <p:nvPr/>
        </p:nvSpPr>
        <p:spPr>
          <a:xfrm>
            <a:off x="6419088" y="2560320"/>
            <a:ext cx="236829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Consent Mode e bases legais reduzem o volume de eventos com identificação de usuário.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9153144" y="1874520"/>
            <a:ext cx="2697480" cy="1920240"/>
          </a:xfrm>
          <a:prstGeom prst="roundRect">
            <a:avLst>
              <a:gd fmla="val 381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"/>
          <p:cNvSpPr/>
          <p:nvPr/>
        </p:nvSpPr>
        <p:spPr>
          <a:xfrm>
            <a:off x="9317736" y="2029968"/>
            <a:ext cx="2368296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Walled Gardens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9317736" y="2560320"/>
            <a:ext cx="2368296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Google, Meta e TikTok limitam visibilidade cross-plataforma dos touchpoints.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57200" y="4069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Consequência direta na operação de mídia: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502920" y="4535424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731520" y="440740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Overspend em canais de resposta direta (last-click) em 15–25%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02920" y="4919472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731520" y="4791456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Underinvestment em canais de topo de funil / branding em 30–40%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02920" y="5303520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731520" y="5175504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Decisões de budget tomadas sobre dado incompleto ~60% do tempo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502920" y="5687568"/>
            <a:ext cx="82296" cy="8229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731520" y="5559552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Sinergias cross-canal (halo/cannibalization) ficam invisíveis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Contexto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 · CONCEITO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Marketing Mix Modeling (MMM)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57200" y="1417320"/>
            <a:ext cx="5394960" cy="960120"/>
          </a:xfrm>
          <a:prstGeom prst="roundRect">
            <a:avLst>
              <a:gd fmla="val 5714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5"/>
          <p:cNvSpPr/>
          <p:nvPr/>
        </p:nvSpPr>
        <p:spPr>
          <a:xfrm>
            <a:off x="640080" y="153619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MMM é um modelo estatístico top-down: analisa a relação entre investimentos agregados em mídia (e fatores externos) e um resultado de negócio (vendas, receita, leads) ao longo do tempo — sem depender de tracking individual de usuário.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457200" y="2606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CARACTERÍSTICAS-CHAVE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502920" y="2980944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713232" y="286207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Granularidade: agregada (semanal/diária, por canal, por região)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502920" y="336499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5"/>
          <p:cNvSpPr/>
          <p:nvPr/>
        </p:nvSpPr>
        <p:spPr>
          <a:xfrm>
            <a:off x="713232" y="32461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Privacidade: 100% compliant — não usa cookies/IDs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502920" y="3749040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713232" y="363016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Cobertura: todos os canais, incluindo offline (TV, rádio, OOH)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502920" y="4133088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5"/>
          <p:cNvSpPr/>
          <p:nvPr/>
        </p:nvSpPr>
        <p:spPr>
          <a:xfrm>
            <a:off x="713232" y="401421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Horizonte: captura efeitos de curto E longo prazo (brand building)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502920" y="4517136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713232" y="439826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Método: regressão (linear/log-log/log-linear), Bayesian, adstock/saturação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6263640" y="1417320"/>
            <a:ext cx="5440680" cy="1371600"/>
          </a:xfrm>
          <a:prstGeom prst="roundRect">
            <a:avLst>
              <a:gd fmla="val 4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"/>
          <p:cNvSpPr/>
          <p:nvPr/>
        </p:nvSpPr>
        <p:spPr>
          <a:xfrm>
            <a:off x="6492240" y="15361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EQUAÇÃO BASE (log-linear)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/>
          <p:nvPr/>
        </p:nvSpPr>
        <p:spPr>
          <a:xfrm>
            <a:off x="6492240" y="1847088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ln(Vendas_t) = β₀ + Σ βᵢ·Adstock(Mídia_i,t) + βₚ·Preço_t + βₛ·Sazonalidade_t + 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492240" y="23774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Coeficientes β representam a contribuição incremental de cada driver sobre o resultado.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6263640" y="2971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QUANDO USAR MMM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309360" y="334670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"/>
          <p:cNvSpPr/>
          <p:nvPr/>
        </p:nvSpPr>
        <p:spPr>
          <a:xfrm>
            <a:off x="6519672" y="322783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Definir orçamento anual/trimestral entre canais e mídias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6309360" y="3730752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"/>
          <p:cNvSpPr/>
          <p:nvPr/>
        </p:nvSpPr>
        <p:spPr>
          <a:xfrm>
            <a:off x="6519672" y="3611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Medir impacto de TV, rádio, OOH e outras mídias offline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6309360" y="4114800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5"/>
          <p:cNvSpPr/>
          <p:nvPr/>
        </p:nvSpPr>
        <p:spPr>
          <a:xfrm>
            <a:off x="6519672" y="399592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Simular cenários ("e se eu aumentar TV em 20%?")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6309360" y="449884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5"/>
          <p:cNvSpPr/>
          <p:nvPr/>
        </p:nvSpPr>
        <p:spPr>
          <a:xfrm>
            <a:off x="6519672" y="437997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Ambientes com alta perda de sinal (iOS, cookieless, consent)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6309360" y="4882896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6519672" y="476402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Capturar efeitos de marca / halo entre produtos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Conceito MMM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 · CONCEITO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MMM Também Cobre Mídia Digital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Um erro comum é achar que MMM serve só para TV/OOH. Na prática, Google Ads e Meta Ads entram no MMM como qualquer outra variável de mídia — o que muda é o USO: enquanto o DDA/MTA otimiza tática (dentro do canal), o MMM responde "quanto desse canal comprar" no mix total.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57200" y="1874520"/>
            <a:ext cx="5440680" cy="4434840"/>
          </a:xfrm>
          <a:prstGeom prst="roundRect">
            <a:avLst>
              <a:gd fmla="val 1237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658368" y="20299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GOOGLE ADS E META ADS NO MMM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658368" y="239572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Variável de mídia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658368" y="2642616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google_ads_spend, google_search_grp, meta_ads_spend, meta_reach — mesma lógica de qualquer canal MMM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658368" y="3200400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Granularidade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658368" y="3447288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Investimento e conversões agregados por SEMANA (não por clique/usuário)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58368" y="40050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Transformação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658368" y="425196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Adstock curto (Search: poucos dias) x Adstock médio (Social/Display: 1-3 semanas) + saturação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658368" y="48097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Por que incluir mesmo tendo DDA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658368" y="5056632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DDA mede só o que ele vê (last touch digital); MMM captura o efeito incremental REAL, líquido de canibalização (ex.: Brand Search puxado por TV/Social)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658368" y="561441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Uso típico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658368" y="5861304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"Quanto do orçamento trimestral vai para Google Ads vs. Meta Ads vs. TikTok vs. TV?"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263640" y="1874520"/>
            <a:ext cx="5440680" cy="4434840"/>
          </a:xfrm>
          <a:prstGeom prst="roundRect">
            <a:avLst>
              <a:gd fmla="val 123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"/>
          <p:cNvSpPr/>
          <p:nvPr/>
        </p:nvSpPr>
        <p:spPr>
          <a:xfrm>
            <a:off x="6464808" y="20299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APLICAÇÃO NO DIA A DIA — WEB &amp; APP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6492240" y="2450592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6693408" y="2322576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Explicar picos/quedas de sessão e conversão no GA4 que o MTA sozinho não justifica (ex: efeito residual de campanha encerrada há 2 semanas)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492240" y="3291840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6"/>
          <p:cNvSpPr/>
          <p:nvPr/>
        </p:nvSpPr>
        <p:spPr>
          <a:xfrm>
            <a:off x="6693408" y="3163824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Responder ao negócio "o app cresceu por causa de mídia paga ou por sazonalidade/lançamento de feature?" usando os eventos do seu Tracking Plan como DV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6492240" y="413308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"/>
          <p:cNvSpPr/>
          <p:nvPr/>
        </p:nvSpPr>
        <p:spPr>
          <a:xfrm>
            <a:off x="6693408" y="4005072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Calibrar a leitura do DDA do GA4: quando MMM aponta baixa contribuição incremental de um canal que o DDA "supercredita", é sinal de canibalização/branded search inflado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6492240" y="4974336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"/>
          <p:cNvSpPr/>
          <p:nvPr/>
        </p:nvSpPr>
        <p:spPr>
          <a:xfrm>
            <a:off x="6693408" y="4846320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Apoiar decisão de CRO/Produto: priorizar onde investir em Testes A/B olhando o driver de maior contribuição no MMM (ver próxima seção do framework)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492240" y="58155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6693408" y="5687568"/>
            <a:ext cx="48463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Fechar o relatório executivo de Digital Analytics com uma visão única: performance de campanha (MTA/DDA) + eficiência de investimento (MMM) no mesmo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em Mídia Digital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04 · CONCEITO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Multi-Touch Attribution (MTA)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457200" y="1417320"/>
            <a:ext cx="5394960" cy="960120"/>
          </a:xfrm>
          <a:prstGeom prst="roundRect">
            <a:avLst>
              <a:gd fmla="val 5714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640080" y="1536192"/>
            <a:ext cx="5029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MTA é um modelo bottom-up: reconstrói a jornada individual do usuário (touchpoints) até a conversão, distribuindo crédito entre os canais/campanhas que o usuário efetivamente interagiu — dependente de tracking (click IDs, user_id, cookies).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57200" y="26060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CARACTERÍSTICAS-CHAVE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502920" y="2980944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713232" y="286207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Granularidade: evento/usuário (click, sessão, touchpoint)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502920" y="3364992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713232" y="32461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Privacidade: depende de identificadores (gclid, fbclid, ttclid, user_id)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02920" y="3749040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713232" y="363016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Cobertura: apenas canais digitais rastreáveis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502920" y="4133088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713232" y="401421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Horizonte: curto prazo (janela de conversão, ex: 30/90 dias)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502920" y="4517136"/>
            <a:ext cx="73152" cy="731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713232" y="439826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Método: regras heurísticas ou algorítmico (Markov Chain, Shapley, DDA)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6263640" y="1417320"/>
            <a:ext cx="5440680" cy="1371600"/>
          </a:xfrm>
          <a:prstGeom prst="roundRect">
            <a:avLst>
              <a:gd fmla="val 4000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6492240" y="153619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ORIGEM DO DADO NO SEU DATA LAYER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6492240" y="1847088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Eventos GA4 (view_item, add_to_cart, purchase) + parâmetros personalizados (content_journey, content_name, user_id) + parâmetros de campanha (utm_source, gclid, fbclid, ttclid) compõem cada touchpoint da jornada.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263640" y="2971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QUANDO USAR MTA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309360" y="334670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7"/>
          <p:cNvSpPr/>
          <p:nvPr/>
        </p:nvSpPr>
        <p:spPr>
          <a:xfrm>
            <a:off x="6519672" y="3227832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Otimização tática diária/semanal de campanhas digitais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6309360" y="3730752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6519672" y="361188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Comparar criativos, públicos e posicionamentos dentro do canal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6309360" y="4114800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7"/>
          <p:cNvSpPr/>
          <p:nvPr/>
        </p:nvSpPr>
        <p:spPr>
          <a:xfrm>
            <a:off x="6519672" y="3995928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Bidding e otimização em tempo real (Google/Meta/TikTok Ads)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6309360" y="449884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7"/>
          <p:cNvSpPr/>
          <p:nvPr/>
        </p:nvSpPr>
        <p:spPr>
          <a:xfrm>
            <a:off x="6519672" y="4379976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Jornadas 100% digitais e rastreáveis (app, e-commerce)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309360" y="4882896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6519672" y="476402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Diagnóstico de funil (onde o usuário abandona)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Conceito MTA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8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05 · COMPARATIVO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MMM vs. MTA — O Confronto Completo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1" name="Google Shape;311;p8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{84AA15C9-5FAD-4DD2-8E68-FDBF2CEA2301}</a:tableStyleId>
              </a:tblPr>
              <a:tblGrid>
                <a:gridCol w="3200400"/>
                <a:gridCol w="4023350"/>
                <a:gridCol w="4023350"/>
              </a:tblGrid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Aspecto</a:t>
                      </a:r>
                      <a:endParaRPr sz="11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Marketing Mix Modeling</a:t>
                      </a:r>
                      <a:endParaRPr sz="11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</a:rPr>
                        <a:t>Multi-Touch Attribution</a:t>
                      </a:r>
                      <a:endParaRPr sz="110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Base de dados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Agregada, privacy-safe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Tracking individual de usuário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Conformidade privacidade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Total (sem PII)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Cada vez mais restrita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Cobertura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Todos os canais (on/offline)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Somente canais digitais rastreáveis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Horizonte temporal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Longo prazo (meses/anos)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Curto prazo (janela de conversão)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Construção de marca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Captura efeito de branding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Ignora impacto de topo de funil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Complexidade de setup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Média (plataformas modernas)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Alta (implementação técnica/tags)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Acurácia no cenário atual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85–95% com dado de qualidade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40–60% (perda de sinal)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Velocidade de insight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Horas a dias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Tempo real a diário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84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A2733"/>
                          </a:solidFill>
                        </a:rPr>
                        <a:t>Valor estratégico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Alto — alocação de budget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Médio — otimização tática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2" name="Google Shape;312;p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vs MTA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 · MODELOS DE ATRIBUIÇÃO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Modelos de Atribuição do GA4 — Baseados em Regra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457200" y="123444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Dentro do MTA, o GA4 (e a maioria das plataformas) oferece modelos heurísticos (regra fixa) e um modelo algorítmico (Data-Driven). Cada um distribui o crédito de conversão de forma diferente entre os touchpoints da jornada.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57200" y="1828800"/>
            <a:ext cx="11247120" cy="841248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594360" y="1892808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First-Click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2606040" y="1892808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100% do crédito vai para o PRIMEIRO touchpoint da jornada.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6217920" y="1892808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Entender quais canais geram descoberta/awareness.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9098280" y="1892808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Ignora todo o esforço de nutrição e conversão.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57200" y="2724912"/>
            <a:ext cx="112471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594360" y="2788920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Last-Click (padrão histórico)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606040" y="2788920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100% do crédito vai para o ÚLTIMO touchpoint antes da conversão.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217920" y="2788920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Simplicidade; ainda comum em relatórios de plataforma (Google/Meta Ads).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9098280" y="2788920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Superestima canais de resposta direta (Branded Search, Retargeting).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57200" y="3621024"/>
            <a:ext cx="11247120" cy="841248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594360" y="3685032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2606040" y="3685032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Crédito dividido IGUALMENTE entre todos os touchpoints da jornada.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6217920" y="3685032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Jornadas onde todos os pontos de contato têm peso semelhante.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9098280" y="3685032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Não diferencia touchpoints mais/menos influentes.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57200" y="4517136"/>
            <a:ext cx="1124712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594360" y="4581144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Time Decay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2606040" y="4581144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Mais crédito para touchpoints MAIS PRÓXIMOS da conversão (decaimento exponencial).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6217920" y="4581144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Ciclos de venda curtos, ações de remarketing e promoções.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9098280" y="4581144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Ainda subestima o papel do topo de funil.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457200" y="5413248"/>
            <a:ext cx="11247120" cy="841248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594360" y="5477256"/>
            <a:ext cx="19659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Position-Based (U-shaped)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2606040" y="5477256"/>
            <a:ext cx="3520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40% primeiro touchpoint, 40% último, 20% dividido entre os do meio.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/>
          <p:nvPr/>
        </p:nvSpPr>
        <p:spPr>
          <a:xfrm>
            <a:off x="6217920" y="5477256"/>
            <a:ext cx="2788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E8B57"/>
                </a:solidFill>
                <a:latin typeface="Calibri"/>
                <a:ea typeface="Calibri"/>
                <a:cs typeface="Calibri"/>
                <a:sym typeface="Calibri"/>
              </a:rPr>
              <a:t>Equilibrar descoberta (topo) e conversão (fundo) de funil.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9098280" y="5477256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Pesos fixos e arbitrários; não se adaptam ao negócio.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594360" y="1600200"/>
            <a:ext cx="1965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2606040" y="1600200"/>
            <a:ext cx="3520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COMO DISTRIBUI O CRÉDITO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6217920" y="1600200"/>
            <a:ext cx="2788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MELHOR PARA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9098280" y="1600200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LIMITAÇÃO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Modelos de Atribuição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06 · MODELOS DE ATRIBUIÇÃO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Data-Driven Attribution (DDA) — o padrão atual do GA4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457200" y="1463040"/>
            <a:ext cx="5486400" cy="2331720"/>
          </a:xfrm>
          <a:prstGeom prst="roundRect">
            <a:avLst>
              <a:gd fmla="val 2353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658368" y="162763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COMO FUNCIONA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658368" y="192024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Desde 2023, é o modelo padrão do GA4 (substituiu o last-click). Usa algoritmo próprio do Google (baseado em conceitos de Shapley Value / regressão) que compara jornadas que converteram vs. jornadas que não converteram, atribuindo crédito conforme o impacto marginal real de cada touchpoint.</a:t>
            </a: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 seja: aprende com os PRÓPRIOS dados da conta — os pesos não são fixos como nos modelos de regra.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217920" y="1463040"/>
            <a:ext cx="5486400" cy="2331720"/>
          </a:xfrm>
          <a:prstGeom prst="roundRect">
            <a:avLst>
              <a:gd fmla="val 235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0"/>
          <p:cNvSpPr/>
          <p:nvPr/>
        </p:nvSpPr>
        <p:spPr>
          <a:xfrm>
            <a:off x="6419088" y="1627632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VANTAGENS x LIMITAÇÕES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6419088" y="192024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Se adapta ao comportamento real dos usuários da conta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Considera todos os touchpoints digitais da jornada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Hoje é obrigatório no GA4 (UA descontinuado)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Ainda é um modelo caixa-preta (não expõe os pesos)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Continua limitado a touchpoints DIGITAIS e RASTREADOS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Sofre com a mesma perda de sinal (cookieless/App Tracking)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57200" y="4069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Leitura estratégica para este framework: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57200" y="4434840"/>
            <a:ext cx="11247120" cy="1737360"/>
          </a:xfrm>
          <a:prstGeom prst="roundRect">
            <a:avLst>
              <a:gd fmla="val 3158" name="adj"/>
            </a:avLst>
          </a:prstGeom>
          <a:solidFill>
            <a:srgbClr val="16204A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685800" y="4572000"/>
            <a:ext cx="107899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O DDA do GA4 é o melhor MTA "pronto" disponível hoje — mas ainda é MTA: mede correlação entre touchpoints digitais registrados, não causalidade incremental real, e não enxerga mídia offline nem parte do tráfego perdido por privacidade. Por isso, no framework proposto, o DDA alimenta a camada tática (otimização de campanha, criativo e canal dentro do digital), enquanto o MMM segue como camada estratégica de alocação de budget entre TODOS os canais — inclusive os que o DDA não vê.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Data-Driven Attribution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1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07 · MATRIZ DE DECISÃO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Qual Técnica Usar em Cada Cenário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1" name="Google Shape;381;p11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{84AA15C9-5FAD-4DD2-8E68-FDBF2CEA2301}</a:tableStyleId>
              </a:tblPr>
              <a:tblGrid>
                <a:gridCol w="3657600"/>
                <a:gridCol w="3566150"/>
                <a:gridCol w="4023350"/>
              </a:tblGrid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Cenário de Negócio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Técnica Recomendada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Por quê</a:t>
                      </a:r>
                      <a:endParaRPr sz="10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Definir orçamento anual/trimestral entre canais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MMM (Bayesiano, log-log)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Precisa comparar mídias on/offline e captar efeito de longo prazo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Otimizar lances/orçamento diário dentro do Google Ads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MTA — Data-Driven (nativo da plataforma)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Decisão tática de curtíssimo prazo, dado granular disponível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Avaliar criativo/público dentro do Meta Ads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MTA — Data-Driven / Linear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Comparação interna ao canal, mesma fonte de tracking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Medir contribuição de campanhas de TV/OOH/rádio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MMM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Não existe tracking individual possível nesses canais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Detectar canibalização entre Branded Search e Social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MMM (variáveis de halo/cannibalization)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MTA credita erroneamente o último clique (branded search)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Jornada de compra longa (B2B, alto ticket)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MMM + MTA de posição (U-shaped) combinados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Precisa equilibrar descoberta (topo) e decisão (fundo)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E-commerce com jornada 100% digital e rastreável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MTA — Data-Driven como principal, MMM como validação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Alta cobertura de tracking permite MTA mais confiável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Simular "e se aumentar 20% em TikTok Ads"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MMM (motor de otimização/curvas de saturação)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Cenário de simulação e resposta não-linear ao investimento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Reportar performance de campanha para o time de mídia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MTA — Data-Driven (GA4) + Last-Click como referência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Necessário para operação tática do dia a dia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8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A2733"/>
                          </a:solidFill>
                        </a:rPr>
                        <a:t>Auditoria de budget anual para o CFO/Board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21295C"/>
                          </a:solidFill>
                        </a:rPr>
                        <a:t>MMM (contribution + due-to analysis)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B77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5A6B77"/>
                          </a:solidFill>
                        </a:rPr>
                        <a:t>Visão holística, defensável estatisticamente, cross-canal</a:t>
                      </a:r>
                      <a:endParaRPr sz="950" u="none" cap="none" strike="noStrike"/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382" name="Google Shape;382;p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Matriz de Decisão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08 · APLICAÇÃO POR CANAL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Cambria"/>
                <a:ea typeface="Cambria"/>
                <a:cs typeface="Cambria"/>
                <a:sym typeface="Cambria"/>
              </a:rPr>
              <a:t>Google Ads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457200" y="1417320"/>
            <a:ext cx="5440680" cy="2331720"/>
          </a:xfrm>
          <a:prstGeom prst="roundRect">
            <a:avLst>
              <a:gd fmla="val 2353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40080" y="15727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NO MTA (tático / otimização de campanha)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640080" y="187452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Modelo recomendado: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Data-Driven Attribution (nativo do Google Ads / GA4), incluindo Enhanced Conversions para melhorar o match rate</a:t>
            </a: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Identificadores de clique: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gclid (Google Click ID), gbraid/wbraid (app), utm_source=google, utm_medium=cpc</a:t>
            </a: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Campo no Data Layer (touchpoint):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campaign_source='google' | campaign_medium='cpc' | gclid capturado no dataLayer no load da landing page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6263640" y="1417320"/>
            <a:ext cx="5440680" cy="2331720"/>
          </a:xfrm>
          <a:prstGeom prst="roundRect">
            <a:avLst>
              <a:gd fmla="val 2353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6446520" y="15727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MMM (estratégico / alocação de budget)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6446520" y="187452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Variável de mídia: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google_ads_spend, google_search_grp, google_pmax_spend, google_display_impr</a:t>
            </a: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Transformação recomendada: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Adstock + curva de saturação (S-curve) por canal, dado efeito de diminishing returns.</a:t>
            </a: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Agregação: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Investimento e conversões por semana, por canal e por região/loja.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457200" y="3977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BOA PRÁTICA DE IMPLEMENTAÇÃO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457200" y="4297680"/>
            <a:ext cx="11247120" cy="1691640"/>
          </a:xfrm>
          <a:prstGeom prst="roundRect">
            <a:avLst>
              <a:gd fmla="val 3243" name="adj"/>
            </a:avLst>
          </a:prstGeom>
          <a:solidFill>
            <a:srgbClr val="F7FAFB"/>
          </a:solidFill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685800" y="4434840"/>
            <a:ext cx="10789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Enviar Enhanced Conversions (dados hasheados: e-mail/telefone) para reduzir a perda de sinal do iOS/Consent Mode. Separar Brand Search de Non-Brand Search como duas variáveis distintas no MMM — Brand Search tende a canibalizar conversões orgânicas/diretas.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Google 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3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08 · APLICAÇÃO POR CANAL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3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877F2"/>
                </a:solidFill>
                <a:latin typeface="Cambria"/>
                <a:ea typeface="Cambria"/>
                <a:cs typeface="Cambria"/>
                <a:sym typeface="Cambria"/>
              </a:rPr>
              <a:t>Meta Ads (Facebook / Instagram)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457200" y="1417320"/>
            <a:ext cx="5440680" cy="2331720"/>
          </a:xfrm>
          <a:prstGeom prst="roundRect">
            <a:avLst>
              <a:gd fmla="val 2353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640080" y="15727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77F2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877F2"/>
                </a:solidFill>
                <a:latin typeface="Calibri"/>
                <a:ea typeface="Calibri"/>
                <a:cs typeface="Calibri"/>
                <a:sym typeface="Calibri"/>
              </a:rPr>
              <a:t>NO MTA (tático / otimização de campanha)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640080" y="187452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Modelo recomendado: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Meta Conversions API (CAPI) + Attribution Setting da própria Meta (7-day click / 1-day view padrão) cruzado com DDA do GA4</a:t>
            </a: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Identificadores de clique: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fbclid (Facebook Click ID), utm_source=facebook/instagram, utm_medium=paid-social</a:t>
            </a: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Campo no Data Layer (touchpoint):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campaign_source='facebook'|'instagram' | campaign_medium='paid-social' | fbclid capturado + Meta Pixel/CAPI redundante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6263640" y="1417320"/>
            <a:ext cx="5440680" cy="2331720"/>
          </a:xfrm>
          <a:prstGeom prst="roundRect">
            <a:avLst>
              <a:gd fmla="val 2353" name="adj"/>
            </a:avLst>
          </a:prstGeom>
          <a:solidFill>
            <a:srgbClr val="1877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6446520" y="15727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MMM (estratégico / alocação de budget)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6446520" y="187452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Variável de mídia: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meta_ads_spend, meta_reach, meta_frequency, meta_video_views</a:t>
            </a: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Transformação recomendada: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Adstock + curva de saturação (S-curve) por canal, dado efeito de diminishing returns.</a:t>
            </a: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Agregação: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Investimento e conversões por semana, por canal e por região/loja.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457200" y="3977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BOA PRÁTICA DE IMPLEMENTAÇÃO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457200" y="4297680"/>
            <a:ext cx="11247120" cy="1691640"/>
          </a:xfrm>
          <a:prstGeom prst="roundRect">
            <a:avLst>
              <a:gd fmla="val 3243" name="adj"/>
            </a:avLst>
          </a:prstGeom>
          <a:solidFill>
            <a:srgbClr val="F7FAFB"/>
          </a:solidFill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685800" y="4434840"/>
            <a:ext cx="10789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Implementar Conversions API (server-side) em paralelo ao Pixel para mitigar perda de eventos por bloqueadores/ITP. No MMM, tratar Meta como canal de alto adstock (efeito residual mais longo que Search) — testar meia-vida de 2 a 4 semanas.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Meta Ads (Facebook / Instagram)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08 · APLICAÇÃO POR CANAL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010101"/>
                </a:solidFill>
                <a:latin typeface="Cambria"/>
                <a:ea typeface="Cambria"/>
                <a:cs typeface="Cambria"/>
                <a:sym typeface="Cambria"/>
              </a:rPr>
              <a:t>TikTok Ads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457200" y="1417320"/>
            <a:ext cx="5440680" cy="2331720"/>
          </a:xfrm>
          <a:prstGeom prst="roundRect">
            <a:avLst>
              <a:gd fmla="val 2353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640080" y="15727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10101"/>
                </a:solidFill>
                <a:latin typeface="Calibri"/>
                <a:ea typeface="Calibri"/>
                <a:cs typeface="Calibri"/>
                <a:sym typeface="Calibri"/>
              </a:rPr>
              <a:t>NO MTA (tático / otimização de campanha)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640080" y="187452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Modelo recomendado: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TikTok Events API (server-side) + modelo de atribuição da própria plataforma (7-day click / 1-day view) validado contra DDA do GA4</a:t>
            </a: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Identificadores de clique: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ttclid (TikTok Click ID), utm_source=tiktok, utm_medium=paid-social</a:t>
            </a: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Campo no Data Layer (touchpoint): </a:t>
            </a: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campaign_source='tiktok' | campaign_medium='paid-social' | ttclid capturado no dataLayer + Events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6263640" y="1417320"/>
            <a:ext cx="5440680" cy="2331720"/>
          </a:xfrm>
          <a:prstGeom prst="roundRect">
            <a:avLst>
              <a:gd fmla="val 2353" name="adj"/>
            </a:avLst>
          </a:prstGeom>
          <a:solidFill>
            <a:srgbClr val="01010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6446520" y="1572768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MMM (estratégico / alocação de budget)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446520" y="1874520"/>
            <a:ext cx="512064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Variável de mídia: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tiktok_ads_spend, tiktok_impressions, tiktok_video_completion_rate</a:t>
            </a: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Transformação recomendada: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Adstock + curva de saturação (S-curve) por canal, dado efeito de diminishing returns.</a:t>
            </a: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Agregação: </a:t>
            </a: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Investimento e conversões por semana, por canal e por região/loja.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457200" y="3977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BOA PRÁTICA DE IMPLEMENTAÇÃO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457200" y="4297680"/>
            <a:ext cx="11247120" cy="1691640"/>
          </a:xfrm>
          <a:prstGeom prst="roundRect">
            <a:avLst>
              <a:gd fmla="val 3243" name="adj"/>
            </a:avLst>
          </a:prstGeom>
          <a:solidFill>
            <a:srgbClr val="F7FAFB"/>
          </a:solidFill>
          <a:ln cap="flat" cmpd="sng" w="9525">
            <a:solidFill>
              <a:srgbClr val="D8E1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685800" y="4434840"/>
            <a:ext cx="10789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Canal tende a ter janela de conversão mais curta e forte componente de descoberta (topo de funil) — no MTA, evitar avaliar apenas last-click; no MMM, testar como driver de reach/awareness com adstock curto e possível halo sobre Search/Direto.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TikTok Ads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5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08 · APLICAÇÃO POR CANAL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5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Outros Canais Digitais e Offline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49" name="Google Shape;449;p15"/>
          <p:cNvGraphicFramePr/>
          <p:nvPr/>
        </p:nvGraphicFramePr>
        <p:xfrm>
          <a:off x="4572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{84AA15C9-5FAD-4DD2-8E68-FDBF2CEA2301}</a:tableStyleId>
              </a:tblPr>
              <a:tblGrid>
                <a:gridCol w="2514600"/>
                <a:gridCol w="3063250"/>
                <a:gridCol w="3017525"/>
                <a:gridCol w="2651750"/>
              </a:tblGrid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Canal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Identificador / Origem no Data Layer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Técnica Recomendada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</a:rPr>
                        <a:t>Papel na Jornada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A33D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95C"/>
                          </a:solidFill>
                        </a:rPr>
                        <a:t>LinkedIn Ads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li_fat_id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MTA tático (DDA)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B2B / geração de leads corporativos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95C"/>
                          </a:solidFill>
                        </a:rPr>
                        <a:t>Pinterest / X Ads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epik / twclid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MTA tático (DDA / Position-based)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Descoberta visual e nicho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95C"/>
                          </a:solidFill>
                        </a:rPr>
                        <a:t>E-mail Marketing (CRM)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utm_source=email + utm_campaign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MTA — Linear/Time Decay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Retenção e reativação de base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95C"/>
                          </a:solidFill>
                        </a:rPr>
                        <a:t>Influenciadores / Afiliados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utm_source=influencer + coupon/cupom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MMM (variável de "other drivers") + MTA por cupom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Efeito difícil de rastrear por clique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95C"/>
                          </a:solidFill>
                        </a:rPr>
                        <a:t>SEO / Orgânico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channel_grouping='organic'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MMM (variável de trend/base) — nunca MTA de crédito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Baseline / brand equity, não é mídia paga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44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1295C"/>
                          </a:solidFill>
                        </a:rPr>
                        <a:t>TV, Rádio, OOH, Mídia Impressa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Não aplicável (sem tracking digital)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MMM — único método possível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1A2733"/>
                          </a:solidFill>
                        </a:rPr>
                        <a:t>Construção de marca / awareness em massa</a:t>
                      </a:r>
                      <a:endParaRPr sz="10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450" name="Google Shape;450;p15"/>
          <p:cNvSpPr/>
          <p:nvPr/>
        </p:nvSpPr>
        <p:spPr>
          <a:xfrm>
            <a:off x="457200" y="4800600"/>
            <a:ext cx="11247120" cy="1188720"/>
          </a:xfrm>
          <a:prstGeom prst="roundRect">
            <a:avLst>
              <a:gd fmla="val 4615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Regra geral de decisão: sempre que existir um clique/ID rastreável e a jornada for majoritariamente digital → MTA (DDA) resolve a otimização tática. Sempre que o canal não gerar clique rastreável (TV, OOH, orgânico, boca-a-boca) ou a decisão for de alocação de budget entre canais → MMM é o único caminho estatisticamente válido.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Outros Canais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5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6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09 · ARQUITETURA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6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Arquitetura Unificada: MMM + MTA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457200" y="123444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Camadas de decisão — do estratégico (MMM) ao tático (MTA), com a mesma fundação de dados.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457200" y="1737360"/>
            <a:ext cx="11247120" cy="1051560"/>
          </a:xfrm>
          <a:prstGeom prst="roundRect">
            <a:avLst>
              <a:gd fmla="val 5217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640080" y="18288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CAMADA ESTRATÉGICA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063240" y="18288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MMM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6"/>
          <p:cNvSpPr/>
          <p:nvPr/>
        </p:nvSpPr>
        <p:spPr>
          <a:xfrm>
            <a:off x="5532120" y="1828800"/>
            <a:ext cx="5989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Alocação de budget trimestral/anual entre canais e mídias (incl. offline). Output: curvas de resposta e recomendação de mix.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457200" y="2944368"/>
            <a:ext cx="11247120" cy="1051560"/>
          </a:xfrm>
          <a:prstGeom prst="roundRect">
            <a:avLst>
              <a:gd fmla="val 5217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"/>
          <p:cNvSpPr/>
          <p:nvPr/>
        </p:nvSpPr>
        <p:spPr>
          <a:xfrm>
            <a:off x="640080" y="3035808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CAMADA TÁTICA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3063240" y="3035808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MTA (DDA/GA4 + plataformas)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5532120" y="3035808"/>
            <a:ext cx="5989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Otimização diária de campanha, público e criativo dentro de cada canal digital. Output: crédito por touchpoint.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6"/>
          <p:cNvSpPr/>
          <p:nvPr/>
        </p:nvSpPr>
        <p:spPr>
          <a:xfrm>
            <a:off x="457200" y="4151376"/>
            <a:ext cx="11247120" cy="1051560"/>
          </a:xfrm>
          <a:prstGeom prst="roundRect">
            <a:avLst>
              <a:gd fmla="val 5217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6"/>
          <p:cNvSpPr/>
          <p:nvPr/>
        </p:nvSpPr>
        <p:spPr>
          <a:xfrm>
            <a:off x="640080" y="4242816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CAMADA DE VALIDAÇÃO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3063240" y="4242816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MMM ⇄ MTA reconciliação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5532120" y="4242816"/>
            <a:ext cx="5989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Comparar contribuição incremental do MMM com o crédito atribuído pelo MTA — identificar divergências (ex: canibalização, halo).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457200" y="54406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Fundação comum às duas camadas: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6"/>
          <p:cNvSpPr/>
          <p:nvPr/>
        </p:nvSpPr>
        <p:spPr>
          <a:xfrm>
            <a:off x="457200" y="5742432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Data Layer (GTM) → GA4 → BigQuery → Feature Store — a mesma base de eventos e parâmetros personalizados alimenta ambos os modelos, evitando retrabalho e inconsistência entre times.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Arquitetura Unificada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7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10 · FUNDAÇÃO DE DADOS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7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Seu Data Layer Como Fundação (GTM → GA4)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7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O Tracking Plan já existente (eventos e-commerce padrão GA4 + eventos/parâmetros personalizados) já contém a maior parte do que MMM e MTA precisam.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7"/>
          <p:cNvSpPr/>
          <p:nvPr/>
        </p:nvSpPr>
        <p:spPr>
          <a:xfrm>
            <a:off x="457200" y="1874520"/>
            <a:ext cx="1691640" cy="1005840"/>
          </a:xfrm>
          <a:prstGeom prst="roundRect">
            <a:avLst>
              <a:gd fmla="val 545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7"/>
          <p:cNvSpPr/>
          <p:nvPr/>
        </p:nvSpPr>
        <p:spPr>
          <a:xfrm>
            <a:off x="457200" y="187452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Plan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(Negócio)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7"/>
          <p:cNvSpPr/>
          <p:nvPr/>
        </p:nvSpPr>
        <p:spPr>
          <a:xfrm>
            <a:off x="2148840" y="1874520"/>
            <a:ext cx="21945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7"/>
          <p:cNvSpPr/>
          <p:nvPr/>
        </p:nvSpPr>
        <p:spPr>
          <a:xfrm>
            <a:off x="2322576" y="1874520"/>
            <a:ext cx="1691640" cy="1005840"/>
          </a:xfrm>
          <a:prstGeom prst="roundRect">
            <a:avLst>
              <a:gd fmla="val 545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"/>
          <p:cNvSpPr/>
          <p:nvPr/>
        </p:nvSpPr>
        <p:spPr>
          <a:xfrm>
            <a:off x="2322576" y="187452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Layer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(dataLayer.push)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7"/>
          <p:cNvSpPr/>
          <p:nvPr/>
        </p:nvSpPr>
        <p:spPr>
          <a:xfrm>
            <a:off x="4014216" y="1874520"/>
            <a:ext cx="21945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7"/>
          <p:cNvSpPr/>
          <p:nvPr/>
        </p:nvSpPr>
        <p:spPr>
          <a:xfrm>
            <a:off x="4187952" y="1874520"/>
            <a:ext cx="1691640" cy="1005840"/>
          </a:xfrm>
          <a:prstGeom prst="roundRect">
            <a:avLst>
              <a:gd fmla="val 545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4187952" y="187452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GTM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(Variável·Trigger·Tag)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5879592" y="1874520"/>
            <a:ext cx="21945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6053328" y="1874520"/>
            <a:ext cx="1691640" cy="1005840"/>
          </a:xfrm>
          <a:prstGeom prst="roundRect">
            <a:avLst>
              <a:gd fmla="val 545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6053328" y="187452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(Analytics)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7"/>
          <p:cNvSpPr/>
          <p:nvPr/>
        </p:nvSpPr>
        <p:spPr>
          <a:xfrm>
            <a:off x="7744968" y="1874520"/>
            <a:ext cx="21945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7"/>
          <p:cNvSpPr/>
          <p:nvPr/>
        </p:nvSpPr>
        <p:spPr>
          <a:xfrm>
            <a:off x="7918704" y="1874520"/>
            <a:ext cx="1691640" cy="1005840"/>
          </a:xfrm>
          <a:prstGeom prst="roundRect">
            <a:avLst>
              <a:gd fmla="val 5455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7"/>
          <p:cNvSpPr/>
          <p:nvPr/>
        </p:nvSpPr>
        <p:spPr>
          <a:xfrm>
            <a:off x="7918704" y="187452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(Data Warehouse)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7"/>
          <p:cNvSpPr/>
          <p:nvPr/>
        </p:nvSpPr>
        <p:spPr>
          <a:xfrm>
            <a:off x="9610344" y="1874520"/>
            <a:ext cx="21945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7"/>
          <p:cNvSpPr/>
          <p:nvPr/>
        </p:nvSpPr>
        <p:spPr>
          <a:xfrm>
            <a:off x="9784080" y="1874520"/>
            <a:ext cx="1691640" cy="1005840"/>
          </a:xfrm>
          <a:prstGeom prst="roundRect">
            <a:avLst>
              <a:gd fmla="val 5455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7"/>
          <p:cNvSpPr/>
          <p:nvPr/>
        </p:nvSpPr>
        <p:spPr>
          <a:xfrm>
            <a:off x="9784080" y="1874520"/>
            <a:ext cx="1691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Feature Store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(MMM + MTA)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457200" y="3200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EVENTOS JÁ MAPEADOS NO SEU TRACKING PLAN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06" name="Google Shape;506;p17"/>
          <p:cNvGraphicFramePr/>
          <p:nvPr/>
        </p:nvGraphicFramePr>
        <p:xfrm>
          <a:off x="457200" y="3520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{84AA15C9-5FAD-4DD2-8E68-FDBF2CEA2301}</a:tableStyleId>
              </a:tblPr>
              <a:tblGrid>
                <a:gridCol w="2377450"/>
                <a:gridCol w="4572000"/>
                <a:gridCol w="4297675"/>
              </a:tblGrid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Categoria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Eventos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Uso em MMM / MTA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1295C"/>
                          </a:solidFill>
                        </a:rPr>
                        <a:t>E-commerce (GA4 padrão)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</a:rPr>
                        <a:t>view_item, add_to_cart, begin_checkout, add_payment_info, purchase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</a:rPr>
                        <a:t>KPI/DV do MMM (conversões, receita) · touchpoint final do MTA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1295C"/>
                          </a:solidFill>
                        </a:rPr>
                        <a:t>Personalizados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</a:rPr>
                        <a:t>clique_cta, screen_view, modal_view, search, slider_mosaic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</a:rPr>
                        <a:t>Sinal comportamental (engajamento) — feature auxiliar em ambos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1295C"/>
                          </a:solidFill>
                        </a:rPr>
                        <a:t>Parâmetros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</a:rPr>
                        <a:t>content_journey, content_name, content_label, content_type, content_category, user_id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A2733"/>
                          </a:solidFill>
                        </a:rPr>
                        <a:t>Segmentação de jornada no MTA · dimensão de análise no MMM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07" name="Google Shape;507;p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Data Layer como Fundação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7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8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11 · MAPEAMENTO MMM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8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Do Data Layer às Variáveis do MMM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17" name="Google Shape;517;p18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{84AA15C9-5FAD-4DD2-8E68-FDBF2CEA2301}</a:tableStyleId>
              </a:tblPr>
              <a:tblGrid>
                <a:gridCol w="2377450"/>
                <a:gridCol w="4023350"/>
                <a:gridCol w="4846325"/>
              </a:tblGrid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Categoria MMM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Variável do Modelo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Origem no Data Layer / GA4 / BQ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Base (Baseline)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Preço médio, sazonalidade, tendência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Dados de e-commerce/ERP + calendário (feriados, campanhas sazonais)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Base (Baseline)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Distribuição / disponibilidade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Dados de estoque/lojas (fonte externa ao GA4)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Incremental (Mídia)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google_ads_spend, meta_ads_spend, tiktok_ads_spend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Google Ads API, Meta Marketing API, TikTok Business API → BigQuery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Incremental (Mídia)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impressões, cliques, GRP/reach por canal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APIs das plataformas de mídia (custo/impressão/clique)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Incremental (Promoção)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desconto médio, nº de cupons ativos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content_category='desconto' / parâmetro content_value no dataLayer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Outras (Comportamental)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engajamento (screen_view, search, slider_mosaic)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Eventos personalizados do Tracking Plan, agregados por semana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Outras (Externas)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sentimento de marca, tendência de busca, clima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Fontes externas: Google Trends, redes sociais, APIs meteorológicas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Variável Dependente (DV)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purchase (receita/volume) ou lead (conversão)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Evento 'purchase' do GA4 → BigQuery, agregado por semana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518" name="Google Shape;518;p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Mapeamento de Variáveis — MMM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9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12 · MAPEAMENTO MTA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Do Data Layer às Variáveis do MTA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8" name="Google Shape;528;p19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{84AA15C9-5FAD-4DD2-8E68-FDBF2CEA2301}</a:tableStyleId>
              </a:tblPr>
              <a:tblGrid>
                <a:gridCol w="2286000"/>
                <a:gridCol w="3657600"/>
                <a:gridCol w="5303525"/>
              </a:tblGrid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Componente MTA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Campo / Parâmetro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Origem no Data Layer / GA4 / BQ</a:t>
                      </a:r>
                      <a:endParaRPr sz="100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1295C"/>
                          </a:solidFill>
                        </a:rPr>
                        <a:t>ID de usuário/jornada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user_id, client_id (GA4), user_pseudo_id (BQ export)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Parâmetro 'user_id' do dataLayer + client_id automático do GA4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1295C"/>
                          </a:solidFill>
                        </a:rPr>
                        <a:t>ID de clique por canal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gclid, fbclid, ttclid, li_fat_id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Capturado via URL params na 1ª página da sessão (landing)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1295C"/>
                          </a:solidFill>
                        </a:rPr>
                        <a:t>Canal / origem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utm_source, utm_medium, utm_campaign, default channel grouping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Definido automaticamente pelo GA4 a partir da URL/click ID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1295C"/>
                          </a:solidFill>
                        </a:rPr>
                        <a:t>Touchpoint / evento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view_item, add_to_cart, purchase + timestamp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Eventos do Tracking Plan, ordenados por 'event_timestamp'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1295C"/>
                          </a:solidFill>
                        </a:rPr>
                        <a:t>Contexto do touchpoint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content_journey, content_name, content_label, content_type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Parâmetros personalizados já definidos no Tracking Plan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1295C"/>
                          </a:solidFill>
                        </a:rPr>
                        <a:t>Janela de conversão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lookback window (ex: 30/90 dias)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Configurado no GA4 Admin → Attribution Settings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1295C"/>
                          </a:solidFill>
                        </a:rPr>
                        <a:t>Modelo de crédito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Data-Driven (peso variável) ou regra fixa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GA4 Attribution reports / BigQuery export com atribuição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38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50"/>
                        <a:buFont typeface="Calibri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1295C"/>
                          </a:solidFill>
                        </a:rPr>
                        <a:t>Variável de conversão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purchase (transaction_id, value, currency)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1A2733"/>
                          </a:solidFill>
                        </a:rPr>
                        <a:t>Evento 'purchase' com parâmetros de e-commerce do dataLayer</a:t>
                      </a:r>
                      <a:endParaRPr sz="95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529" name="Google Shape;529;p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Mapeamento de Variáveis — MTA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13 · FLUXO DE DADOS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0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Fluxo Etapa por Etapa (Fim a Fim)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0"/>
          <p:cNvSpPr/>
          <p:nvPr/>
        </p:nvSpPr>
        <p:spPr>
          <a:xfrm>
            <a:off x="457200" y="146304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0"/>
          <p:cNvSpPr/>
          <p:nvPr/>
        </p:nvSpPr>
        <p:spPr>
          <a:xfrm>
            <a:off x="457200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0"/>
          <p:cNvSpPr/>
          <p:nvPr/>
        </p:nvSpPr>
        <p:spPr>
          <a:xfrm>
            <a:off x="932688" y="138988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Captura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0"/>
          <p:cNvSpPr/>
          <p:nvPr/>
        </p:nvSpPr>
        <p:spPr>
          <a:xfrm>
            <a:off x="932688" y="166420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dataLayer.push() dispara eventos e-commerce + personalizados no site/app conforme Tracking Plan já homologado.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0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0"/>
          <p:cNvSpPr/>
          <p:nvPr/>
        </p:nvSpPr>
        <p:spPr>
          <a:xfrm>
            <a:off x="457200" y="24048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932688" y="235000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Tags &amp; Triggers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0"/>
          <p:cNvSpPr/>
          <p:nvPr/>
        </p:nvSpPr>
        <p:spPr>
          <a:xfrm>
            <a:off x="932688" y="262432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GTM lê o dataLayer, aciona Triggers e envia via Tags para o GA4 (e Adobe Launch, se aplicável).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0"/>
          <p:cNvSpPr/>
          <p:nvPr/>
        </p:nvSpPr>
        <p:spPr>
          <a:xfrm>
            <a:off x="457200" y="338328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"/>
          <p:cNvSpPr/>
          <p:nvPr/>
        </p:nvSpPr>
        <p:spPr>
          <a:xfrm>
            <a:off x="457200" y="33649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0"/>
          <p:cNvSpPr/>
          <p:nvPr/>
        </p:nvSpPr>
        <p:spPr>
          <a:xfrm>
            <a:off x="932688" y="331012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Coleta &amp; Enriquecimento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0"/>
          <p:cNvSpPr/>
          <p:nvPr/>
        </p:nvSpPr>
        <p:spPr>
          <a:xfrm>
            <a:off x="932688" y="358444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GA4 recebe eventos, resolve client_id/user_id, aplica Attribution Settings (DDA) e Consent Mode.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0"/>
          <p:cNvSpPr/>
          <p:nvPr/>
        </p:nvSpPr>
        <p:spPr>
          <a:xfrm>
            <a:off x="457200" y="434340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0"/>
          <p:cNvSpPr/>
          <p:nvPr/>
        </p:nvSpPr>
        <p:spPr>
          <a:xfrm>
            <a:off x="457200" y="4325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0"/>
          <p:cNvSpPr/>
          <p:nvPr/>
        </p:nvSpPr>
        <p:spPr>
          <a:xfrm>
            <a:off x="932688" y="427024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Exportação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0"/>
          <p:cNvSpPr/>
          <p:nvPr/>
        </p:nvSpPr>
        <p:spPr>
          <a:xfrm>
            <a:off x="932688" y="454456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GA4 → BigQuery Export (diário/streaming) — tabelas events_* nativas, granularidade de evento.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0"/>
          <p:cNvSpPr/>
          <p:nvPr/>
        </p:nvSpPr>
        <p:spPr>
          <a:xfrm>
            <a:off x="457200" y="530352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20"/>
          <p:cNvSpPr/>
          <p:nvPr/>
        </p:nvSpPr>
        <p:spPr>
          <a:xfrm>
            <a:off x="457200" y="52852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0"/>
          <p:cNvSpPr/>
          <p:nvPr/>
        </p:nvSpPr>
        <p:spPr>
          <a:xfrm>
            <a:off x="932688" y="523036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Ingestão de Mídia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0"/>
          <p:cNvSpPr/>
          <p:nvPr/>
        </p:nvSpPr>
        <p:spPr>
          <a:xfrm>
            <a:off x="932688" y="550468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APIs de Google Ads, Meta Ads, TikTok Ads etc. trazem custo/impressão/clique por campanha/dia para o BigQuery.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0"/>
          <p:cNvSpPr/>
          <p:nvPr/>
        </p:nvSpPr>
        <p:spPr>
          <a:xfrm>
            <a:off x="6172200" y="146304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20"/>
          <p:cNvSpPr/>
          <p:nvPr/>
        </p:nvSpPr>
        <p:spPr>
          <a:xfrm>
            <a:off x="6172200" y="14447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0"/>
          <p:cNvSpPr/>
          <p:nvPr/>
        </p:nvSpPr>
        <p:spPr>
          <a:xfrm>
            <a:off x="6647688" y="138988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Camada de Transformação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0"/>
          <p:cNvSpPr/>
          <p:nvPr/>
        </p:nvSpPr>
        <p:spPr>
          <a:xfrm>
            <a:off x="6647688" y="166420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dbt/SQL cria tabelas curadas: sessões, jornadas de usuário, agregados semanais por canal (staging → marts).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0"/>
          <p:cNvSpPr/>
          <p:nvPr/>
        </p:nvSpPr>
        <p:spPr>
          <a:xfrm>
            <a:off x="6172200" y="242316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0"/>
          <p:cNvSpPr/>
          <p:nvPr/>
        </p:nvSpPr>
        <p:spPr>
          <a:xfrm>
            <a:off x="6172200" y="240487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0"/>
          <p:cNvSpPr/>
          <p:nvPr/>
        </p:nvSpPr>
        <p:spPr>
          <a:xfrm>
            <a:off x="6647688" y="235000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Feature Store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/>
          <p:nvPr/>
        </p:nvSpPr>
        <p:spPr>
          <a:xfrm>
            <a:off x="6647688" y="262432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Features separadas para MMM (agregado/semanal) e MTA (jornada/evento) — ver slide técnico dedicado.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/>
          <p:nvPr/>
        </p:nvSpPr>
        <p:spPr>
          <a:xfrm>
            <a:off x="6172200" y="338328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0"/>
          <p:cNvSpPr/>
          <p:nvPr/>
        </p:nvSpPr>
        <p:spPr>
          <a:xfrm>
            <a:off x="6172200" y="33649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0"/>
          <p:cNvSpPr/>
          <p:nvPr/>
        </p:nvSpPr>
        <p:spPr>
          <a:xfrm>
            <a:off x="6647688" y="331012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Modelagem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0"/>
          <p:cNvSpPr/>
          <p:nvPr/>
        </p:nvSpPr>
        <p:spPr>
          <a:xfrm>
            <a:off x="6647688" y="358444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(BQML/Python) roda sobre agregados; MTA (Markov Chain/DDA) roda sobre jornadas — modelos versionados.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0"/>
          <p:cNvSpPr/>
          <p:nvPr/>
        </p:nvSpPr>
        <p:spPr>
          <a:xfrm>
            <a:off x="6172200" y="434340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0"/>
          <p:cNvSpPr/>
          <p:nvPr/>
        </p:nvSpPr>
        <p:spPr>
          <a:xfrm>
            <a:off x="6172200" y="4325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0"/>
          <p:cNvSpPr/>
          <p:nvPr/>
        </p:nvSpPr>
        <p:spPr>
          <a:xfrm>
            <a:off x="6647688" y="427024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Ativação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0"/>
          <p:cNvSpPr/>
          <p:nvPr/>
        </p:nvSpPr>
        <p:spPr>
          <a:xfrm>
            <a:off x="6647688" y="454456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Outputs viram: (a) recomendação de mix de budget, (b) atribuição por touchpoint para otimização de campanha.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0"/>
          <p:cNvSpPr/>
          <p:nvPr/>
        </p:nvSpPr>
        <p:spPr>
          <a:xfrm>
            <a:off x="6172200" y="5303520"/>
            <a:ext cx="365760" cy="36576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20"/>
          <p:cNvSpPr/>
          <p:nvPr/>
        </p:nvSpPr>
        <p:spPr>
          <a:xfrm>
            <a:off x="6172200" y="528523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0"/>
          <p:cNvSpPr/>
          <p:nvPr/>
        </p:nvSpPr>
        <p:spPr>
          <a:xfrm>
            <a:off x="6647688" y="5230368"/>
            <a:ext cx="4983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Visualização &amp; Governança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0"/>
          <p:cNvSpPr/>
          <p:nvPr/>
        </p:nvSpPr>
        <p:spPr>
          <a:xfrm>
            <a:off x="6647688" y="5504688"/>
            <a:ext cx="4983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70"/>
              <a:buFont typeface="Calibri"/>
              <a:buNone/>
            </a:pPr>
            <a:r>
              <a:rPr b="0" i="0" lang="en-US" sz="97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Looker Studio / Power BI / Tableau consomem os outputs; QA e monitoramento contínuo do modelo.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Fluxo de Dados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0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1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14 · ARQUITETURA TÉCNICA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Arquitetura do Sistema de ML — BigQuery ML + Python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1"/>
          <p:cNvSpPr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Abordagem híbrida: SQL-first no BigQuery para o que é nativo/escalável; Python para o que exige flexibilidade estatística (Bayesian, Markov Chain, otimização).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1"/>
          <p:cNvSpPr/>
          <p:nvPr/>
        </p:nvSpPr>
        <p:spPr>
          <a:xfrm>
            <a:off x="457200" y="1783080"/>
            <a:ext cx="5440680" cy="4480560"/>
          </a:xfrm>
          <a:prstGeom prst="roundRect">
            <a:avLst>
              <a:gd fmla="val 1224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21"/>
          <p:cNvSpPr/>
          <p:nvPr/>
        </p:nvSpPr>
        <p:spPr>
          <a:xfrm>
            <a:off x="658368" y="19202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BIGQUERY ML — SQL-first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1"/>
          <p:cNvSpPr/>
          <p:nvPr/>
        </p:nvSpPr>
        <p:spPr>
          <a:xfrm>
            <a:off x="685800" y="23865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1"/>
          <p:cNvSpPr/>
          <p:nvPr/>
        </p:nvSpPr>
        <p:spPr>
          <a:xfrm>
            <a:off x="886968" y="22585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Ingestão e transformação: dbt/SQL sobre GA4 export + tabelas de mídia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1"/>
          <p:cNvSpPr/>
          <p:nvPr/>
        </p:nvSpPr>
        <p:spPr>
          <a:xfrm>
            <a:off x="685800" y="30723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1"/>
          <p:cNvSpPr/>
          <p:nvPr/>
        </p:nvSpPr>
        <p:spPr>
          <a:xfrm>
            <a:off x="886968" y="29443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engineering: agregações semanais direto na fonte (baixa latência)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1"/>
          <p:cNvSpPr/>
          <p:nvPr/>
        </p:nvSpPr>
        <p:spPr>
          <a:xfrm>
            <a:off x="685800" y="37581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21"/>
          <p:cNvSpPr/>
          <p:nvPr/>
        </p:nvSpPr>
        <p:spPr>
          <a:xfrm>
            <a:off x="886968" y="36301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MMM baseline: CREATE MODEL ... OPTIONS(model_type='linear_reg' / 'boosted_tree_regressor')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1"/>
          <p:cNvSpPr/>
          <p:nvPr/>
        </p:nvSpPr>
        <p:spPr>
          <a:xfrm>
            <a:off x="685800" y="44439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1"/>
          <p:cNvSpPr/>
          <p:nvPr/>
        </p:nvSpPr>
        <p:spPr>
          <a:xfrm>
            <a:off x="886968" y="43159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MTA exploratório: consultas de sequência de eventos (window functions) para montar jornadas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1"/>
          <p:cNvSpPr/>
          <p:nvPr/>
        </p:nvSpPr>
        <p:spPr>
          <a:xfrm>
            <a:off x="685800" y="51297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1"/>
          <p:cNvSpPr/>
          <p:nvPr/>
        </p:nvSpPr>
        <p:spPr>
          <a:xfrm>
            <a:off x="886968" y="50017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Vantagem: sem mover dado, versionamento simples, custo previsível, ótimo para reprocessamento em escala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1"/>
          <p:cNvSpPr/>
          <p:nvPr/>
        </p:nvSpPr>
        <p:spPr>
          <a:xfrm>
            <a:off x="6263640" y="1783080"/>
            <a:ext cx="5440680" cy="4480560"/>
          </a:xfrm>
          <a:prstGeom prst="roundRect">
            <a:avLst>
              <a:gd fmla="val 1224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1"/>
          <p:cNvSpPr/>
          <p:nvPr/>
        </p:nvSpPr>
        <p:spPr>
          <a:xfrm>
            <a:off x="6464808" y="19202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PYTHON — Estatística avançada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1"/>
          <p:cNvSpPr/>
          <p:nvPr/>
        </p:nvSpPr>
        <p:spPr>
          <a:xfrm>
            <a:off x="6492240" y="23865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1"/>
          <p:cNvSpPr/>
          <p:nvPr/>
        </p:nvSpPr>
        <p:spPr>
          <a:xfrm>
            <a:off x="6693408" y="22585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MMM Bayesiano: PyMC / LightweightMMM / Meridian (Google) — priors, incerteza, adstock+saturação não-linear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1"/>
          <p:cNvSpPr/>
          <p:nvPr/>
        </p:nvSpPr>
        <p:spPr>
          <a:xfrm>
            <a:off x="6492240" y="30723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1"/>
          <p:cNvSpPr/>
          <p:nvPr/>
        </p:nvSpPr>
        <p:spPr>
          <a:xfrm>
            <a:off x="6693408" y="29443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MTA algorítmico: Markov Chain (ChannelAttribution) e Shapley Value para crédito causal entre canais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1"/>
          <p:cNvSpPr/>
          <p:nvPr/>
        </p:nvSpPr>
        <p:spPr>
          <a:xfrm>
            <a:off x="6492240" y="37581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21"/>
          <p:cNvSpPr/>
          <p:nvPr/>
        </p:nvSpPr>
        <p:spPr>
          <a:xfrm>
            <a:off x="6693408" y="36301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Otimização de budget: scipy.optimize / PuLP sobre as curvas de resposta estimadas pelo MMM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1"/>
          <p:cNvSpPr/>
          <p:nvPr/>
        </p:nvSpPr>
        <p:spPr>
          <a:xfrm>
            <a:off x="6492240" y="44439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1"/>
          <p:cNvSpPr/>
          <p:nvPr/>
        </p:nvSpPr>
        <p:spPr>
          <a:xfrm>
            <a:off x="6693408" y="43159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Validação: MAPE, R², holdout temporal e testes de incrementalidade (geo-experiments)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1"/>
          <p:cNvSpPr/>
          <p:nvPr/>
        </p:nvSpPr>
        <p:spPr>
          <a:xfrm>
            <a:off x="6492240" y="5129784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21"/>
          <p:cNvSpPr/>
          <p:nvPr/>
        </p:nvSpPr>
        <p:spPr>
          <a:xfrm>
            <a:off x="6693408" y="5001768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Vantagem: controle estatístico total, priors de negócio, simulação de cenários ("what-if")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Arquitetura do Sistema de ML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1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2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15 · MODELAGEM TÉCNICA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MMM — Pipeline de Modelagem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2"/>
          <p:cNvSpPr/>
          <p:nvPr/>
        </p:nvSpPr>
        <p:spPr>
          <a:xfrm>
            <a:off x="457200" y="1463040"/>
            <a:ext cx="11247120" cy="603504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2"/>
          <p:cNvSpPr/>
          <p:nvPr/>
        </p:nvSpPr>
        <p:spPr>
          <a:xfrm>
            <a:off x="594360" y="1563624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2"/>
          <p:cNvSpPr/>
          <p:nvPr/>
        </p:nvSpPr>
        <p:spPr>
          <a:xfrm>
            <a:off x="594360" y="15453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2"/>
          <p:cNvSpPr/>
          <p:nvPr/>
        </p:nvSpPr>
        <p:spPr>
          <a:xfrm>
            <a:off x="1143000" y="1463040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Preparação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2"/>
          <p:cNvSpPr/>
          <p:nvPr/>
        </p:nvSpPr>
        <p:spPr>
          <a:xfrm>
            <a:off x="3566160" y="1463040"/>
            <a:ext cx="7955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Missing values (imputação/zero/forecast) + tratamento de outliers (sazonalidade, lançamentos)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2"/>
          <p:cNvSpPr/>
          <p:nvPr/>
        </p:nvSpPr>
        <p:spPr>
          <a:xfrm>
            <a:off x="457200" y="2107692"/>
            <a:ext cx="112471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2"/>
          <p:cNvSpPr/>
          <p:nvPr/>
        </p:nvSpPr>
        <p:spPr>
          <a:xfrm>
            <a:off x="594360" y="2208276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2"/>
          <p:cNvSpPr/>
          <p:nvPr/>
        </p:nvSpPr>
        <p:spPr>
          <a:xfrm>
            <a:off x="594360" y="21899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2"/>
          <p:cNvSpPr/>
          <p:nvPr/>
        </p:nvSpPr>
        <p:spPr>
          <a:xfrm>
            <a:off x="1143000" y="2107692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Transformação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2"/>
          <p:cNvSpPr/>
          <p:nvPr/>
        </p:nvSpPr>
        <p:spPr>
          <a:xfrm>
            <a:off x="3566160" y="2107692"/>
            <a:ext cx="7955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Adstock (efeito de memória por canal) + saturação S-curve (Gompertz/Weibull) por variável de mídia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2"/>
          <p:cNvSpPr/>
          <p:nvPr/>
        </p:nvSpPr>
        <p:spPr>
          <a:xfrm>
            <a:off x="457200" y="2752344"/>
            <a:ext cx="11247120" cy="603504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2"/>
          <p:cNvSpPr/>
          <p:nvPr/>
        </p:nvSpPr>
        <p:spPr>
          <a:xfrm>
            <a:off x="594360" y="28529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22"/>
          <p:cNvSpPr/>
          <p:nvPr/>
        </p:nvSpPr>
        <p:spPr>
          <a:xfrm>
            <a:off x="594360" y="2834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2"/>
          <p:cNvSpPr/>
          <p:nvPr/>
        </p:nvSpPr>
        <p:spPr>
          <a:xfrm>
            <a:off x="1143000" y="2752344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Especificação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2"/>
          <p:cNvSpPr/>
          <p:nvPr/>
        </p:nvSpPr>
        <p:spPr>
          <a:xfrm>
            <a:off x="3566160" y="2752344"/>
            <a:ext cx="7955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Escolha da forma funcional: log-log (elasticidade constante) vs. log-linear (% change) conforme a variável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22"/>
          <p:cNvSpPr/>
          <p:nvPr/>
        </p:nvSpPr>
        <p:spPr>
          <a:xfrm>
            <a:off x="457200" y="3396996"/>
            <a:ext cx="112471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2"/>
          <p:cNvSpPr/>
          <p:nvPr/>
        </p:nvSpPr>
        <p:spPr>
          <a:xfrm>
            <a:off x="594360" y="349758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2"/>
          <p:cNvSpPr/>
          <p:nvPr/>
        </p:nvSpPr>
        <p:spPr>
          <a:xfrm>
            <a:off x="594360" y="34792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2"/>
          <p:cNvSpPr/>
          <p:nvPr/>
        </p:nvSpPr>
        <p:spPr>
          <a:xfrm>
            <a:off x="1143000" y="3396996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Estimação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2"/>
          <p:cNvSpPr/>
          <p:nvPr/>
        </p:nvSpPr>
        <p:spPr>
          <a:xfrm>
            <a:off x="3566160" y="3396996"/>
            <a:ext cx="7955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Regressão regularizada (Ridge/Elastic-Net) ou Bayesian (PyMC) com priors informados por benchmark de canal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2"/>
          <p:cNvSpPr/>
          <p:nvPr/>
        </p:nvSpPr>
        <p:spPr>
          <a:xfrm>
            <a:off x="457200" y="4041648"/>
            <a:ext cx="11247120" cy="603504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2"/>
          <p:cNvSpPr/>
          <p:nvPr/>
        </p:nvSpPr>
        <p:spPr>
          <a:xfrm>
            <a:off x="594360" y="414223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2"/>
          <p:cNvSpPr/>
          <p:nvPr/>
        </p:nvSpPr>
        <p:spPr>
          <a:xfrm>
            <a:off x="594360" y="41239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2"/>
          <p:cNvSpPr/>
          <p:nvPr/>
        </p:nvSpPr>
        <p:spPr>
          <a:xfrm>
            <a:off x="1143000" y="4041648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Validação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22"/>
          <p:cNvSpPr/>
          <p:nvPr/>
        </p:nvSpPr>
        <p:spPr>
          <a:xfrm>
            <a:off x="3566160" y="4041648"/>
            <a:ext cx="7955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R², Adjusted R², VIF (multicolinearidade), MAPE/MAE em holdout temporal (ex: últimas 8-12 semanas)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2"/>
          <p:cNvSpPr/>
          <p:nvPr/>
        </p:nvSpPr>
        <p:spPr>
          <a:xfrm>
            <a:off x="457200" y="4686300"/>
            <a:ext cx="112471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2"/>
          <p:cNvSpPr/>
          <p:nvPr/>
        </p:nvSpPr>
        <p:spPr>
          <a:xfrm>
            <a:off x="594360" y="4786884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2"/>
          <p:cNvSpPr/>
          <p:nvPr/>
        </p:nvSpPr>
        <p:spPr>
          <a:xfrm>
            <a:off x="594360" y="47685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2"/>
          <p:cNvSpPr/>
          <p:nvPr/>
        </p:nvSpPr>
        <p:spPr>
          <a:xfrm>
            <a:off x="1143000" y="4686300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Decomposição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2"/>
          <p:cNvSpPr/>
          <p:nvPr/>
        </p:nvSpPr>
        <p:spPr>
          <a:xfrm>
            <a:off x="3566160" y="4686300"/>
            <a:ext cx="7955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Contribution analysis (Base vs. Incremental) + Due-to analysis (YoY/QoQ) por driver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2"/>
          <p:cNvSpPr/>
          <p:nvPr/>
        </p:nvSpPr>
        <p:spPr>
          <a:xfrm>
            <a:off x="457200" y="5330952"/>
            <a:ext cx="11247120" cy="603504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2"/>
          <p:cNvSpPr/>
          <p:nvPr/>
        </p:nvSpPr>
        <p:spPr>
          <a:xfrm>
            <a:off x="594360" y="5431536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2"/>
          <p:cNvSpPr/>
          <p:nvPr/>
        </p:nvSpPr>
        <p:spPr>
          <a:xfrm>
            <a:off x="594360" y="5413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2"/>
          <p:cNvSpPr/>
          <p:nvPr/>
        </p:nvSpPr>
        <p:spPr>
          <a:xfrm>
            <a:off x="1143000" y="5330952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Otimização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2"/>
          <p:cNvSpPr/>
          <p:nvPr/>
        </p:nvSpPr>
        <p:spPr>
          <a:xfrm>
            <a:off x="3566160" y="5330952"/>
            <a:ext cx="7955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Curvas de resposta → solver não-linear (IPOPT/scipy) para alocação ótima de budget sob restrições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2"/>
          <p:cNvSpPr/>
          <p:nvPr/>
        </p:nvSpPr>
        <p:spPr>
          <a:xfrm>
            <a:off x="457200" y="5975604"/>
            <a:ext cx="112471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2"/>
          <p:cNvSpPr/>
          <p:nvPr/>
        </p:nvSpPr>
        <p:spPr>
          <a:xfrm>
            <a:off x="594360" y="607618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2"/>
          <p:cNvSpPr/>
          <p:nvPr/>
        </p:nvSpPr>
        <p:spPr>
          <a:xfrm>
            <a:off x="594360" y="60579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2"/>
          <p:cNvSpPr/>
          <p:nvPr/>
        </p:nvSpPr>
        <p:spPr>
          <a:xfrm>
            <a:off x="1143000" y="5975604"/>
            <a:ext cx="233172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Calibração (opcional)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2"/>
          <p:cNvSpPr/>
          <p:nvPr/>
        </p:nvSpPr>
        <p:spPr>
          <a:xfrm>
            <a:off x="3566160" y="5975604"/>
            <a:ext cx="795528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Ajuste dos coeficientes com resultados de geo-experiments / testes de incrementalidade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Modelagem Técnica MMM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2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23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16 · MODELAGEM TÉCNICA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23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MTA — Pipeline de Modelagem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3"/>
          <p:cNvSpPr/>
          <p:nvPr/>
        </p:nvSpPr>
        <p:spPr>
          <a:xfrm>
            <a:off x="457200" y="1463040"/>
            <a:ext cx="11247120" cy="603504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594360" y="1563624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3"/>
          <p:cNvSpPr/>
          <p:nvPr/>
        </p:nvSpPr>
        <p:spPr>
          <a:xfrm>
            <a:off x="594360" y="154533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3"/>
          <p:cNvSpPr/>
          <p:nvPr/>
        </p:nvSpPr>
        <p:spPr>
          <a:xfrm>
            <a:off x="1143000" y="1463040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Reconstrução de jornada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3"/>
          <p:cNvSpPr/>
          <p:nvPr/>
        </p:nvSpPr>
        <p:spPr>
          <a:xfrm>
            <a:off x="3977640" y="1463040"/>
            <a:ext cx="7543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Agrupar eventos por user_pseudo_id/user_id, ordenar por event_timestamp, montar sequência de touchpoints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3"/>
          <p:cNvSpPr/>
          <p:nvPr/>
        </p:nvSpPr>
        <p:spPr>
          <a:xfrm>
            <a:off x="457200" y="2107692"/>
            <a:ext cx="112471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594360" y="2208276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3"/>
          <p:cNvSpPr/>
          <p:nvPr/>
        </p:nvSpPr>
        <p:spPr>
          <a:xfrm>
            <a:off x="594360" y="21899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3"/>
          <p:cNvSpPr/>
          <p:nvPr/>
        </p:nvSpPr>
        <p:spPr>
          <a:xfrm>
            <a:off x="1143000" y="2107692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Deduplicação &amp; Sessionização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3"/>
          <p:cNvSpPr/>
          <p:nvPr/>
        </p:nvSpPr>
        <p:spPr>
          <a:xfrm>
            <a:off x="3977640" y="2107692"/>
            <a:ext cx="7543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Consolidar sessões (GA4 já sessioniza), remover eventos duplicados/bot traffic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3"/>
          <p:cNvSpPr/>
          <p:nvPr/>
        </p:nvSpPr>
        <p:spPr>
          <a:xfrm>
            <a:off x="457200" y="2752344"/>
            <a:ext cx="11247120" cy="603504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3"/>
          <p:cNvSpPr/>
          <p:nvPr/>
        </p:nvSpPr>
        <p:spPr>
          <a:xfrm>
            <a:off x="594360" y="285292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3"/>
          <p:cNvSpPr/>
          <p:nvPr/>
        </p:nvSpPr>
        <p:spPr>
          <a:xfrm>
            <a:off x="594360" y="28346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3"/>
          <p:cNvSpPr/>
          <p:nvPr/>
        </p:nvSpPr>
        <p:spPr>
          <a:xfrm>
            <a:off x="1143000" y="2752344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Classificação de canal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3"/>
          <p:cNvSpPr/>
          <p:nvPr/>
        </p:nvSpPr>
        <p:spPr>
          <a:xfrm>
            <a:off x="3977640" y="2752344"/>
            <a:ext cx="7543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Mapear cada touchpoint em canal padronizado (Default Channel Grouping / regras customizadas)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3"/>
          <p:cNvSpPr/>
          <p:nvPr/>
        </p:nvSpPr>
        <p:spPr>
          <a:xfrm>
            <a:off x="457200" y="3396996"/>
            <a:ext cx="112471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3"/>
          <p:cNvSpPr/>
          <p:nvPr/>
        </p:nvSpPr>
        <p:spPr>
          <a:xfrm>
            <a:off x="594360" y="3497580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>
            <a:off x="594360" y="34792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3"/>
          <p:cNvSpPr/>
          <p:nvPr/>
        </p:nvSpPr>
        <p:spPr>
          <a:xfrm>
            <a:off x="1143000" y="339699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Modelo heurístico (baseline)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3"/>
          <p:cNvSpPr/>
          <p:nvPr/>
        </p:nvSpPr>
        <p:spPr>
          <a:xfrm>
            <a:off x="3977640" y="3396996"/>
            <a:ext cx="7543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Calcular first-click, last-click, linear, time decay e position-based como benchmark comparativo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23"/>
          <p:cNvSpPr/>
          <p:nvPr/>
        </p:nvSpPr>
        <p:spPr>
          <a:xfrm>
            <a:off x="457200" y="4041648"/>
            <a:ext cx="11247120" cy="603504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3"/>
          <p:cNvSpPr/>
          <p:nvPr/>
        </p:nvSpPr>
        <p:spPr>
          <a:xfrm>
            <a:off x="594360" y="4142232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23"/>
          <p:cNvSpPr/>
          <p:nvPr/>
        </p:nvSpPr>
        <p:spPr>
          <a:xfrm>
            <a:off x="594360" y="412394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3"/>
          <p:cNvSpPr/>
          <p:nvPr/>
        </p:nvSpPr>
        <p:spPr>
          <a:xfrm>
            <a:off x="1143000" y="4041648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Modelo algorítmico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3"/>
          <p:cNvSpPr/>
          <p:nvPr/>
        </p:nvSpPr>
        <p:spPr>
          <a:xfrm>
            <a:off x="3977640" y="4041648"/>
            <a:ext cx="7543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Markov Chain: probabilidade de transição entre canais + Removal Effect para crédito causal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3"/>
          <p:cNvSpPr/>
          <p:nvPr/>
        </p:nvSpPr>
        <p:spPr>
          <a:xfrm>
            <a:off x="457200" y="4686300"/>
            <a:ext cx="112471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3"/>
          <p:cNvSpPr/>
          <p:nvPr/>
        </p:nvSpPr>
        <p:spPr>
          <a:xfrm>
            <a:off x="594360" y="4786884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3"/>
          <p:cNvSpPr/>
          <p:nvPr/>
        </p:nvSpPr>
        <p:spPr>
          <a:xfrm>
            <a:off x="594360" y="476859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3"/>
          <p:cNvSpPr/>
          <p:nvPr/>
        </p:nvSpPr>
        <p:spPr>
          <a:xfrm>
            <a:off x="1143000" y="4686300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Alternativa: Shapley Value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3"/>
          <p:cNvSpPr/>
          <p:nvPr/>
        </p:nvSpPr>
        <p:spPr>
          <a:xfrm>
            <a:off x="3977640" y="4686300"/>
            <a:ext cx="7543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Cálculo do valor marginal médio de cada canal considerando todas as combinações possíveis de coalizão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23"/>
          <p:cNvSpPr/>
          <p:nvPr/>
        </p:nvSpPr>
        <p:spPr>
          <a:xfrm>
            <a:off x="457200" y="5330952"/>
            <a:ext cx="11247120" cy="603504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3"/>
          <p:cNvSpPr/>
          <p:nvPr/>
        </p:nvSpPr>
        <p:spPr>
          <a:xfrm>
            <a:off x="594360" y="5431536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23"/>
          <p:cNvSpPr/>
          <p:nvPr/>
        </p:nvSpPr>
        <p:spPr>
          <a:xfrm>
            <a:off x="594360" y="54132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3"/>
          <p:cNvSpPr/>
          <p:nvPr/>
        </p:nvSpPr>
        <p:spPr>
          <a:xfrm>
            <a:off x="1143000" y="5330952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Validação cruzada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3"/>
          <p:cNvSpPr/>
          <p:nvPr/>
        </p:nvSpPr>
        <p:spPr>
          <a:xfrm>
            <a:off x="3977640" y="5330952"/>
            <a:ext cx="7543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Comparar crédito do modelo custom com o Data-Driven Attribution nativo do GA4 (sanity check)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23"/>
          <p:cNvSpPr/>
          <p:nvPr/>
        </p:nvSpPr>
        <p:spPr>
          <a:xfrm>
            <a:off x="457200" y="5975604"/>
            <a:ext cx="1124712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3"/>
          <p:cNvSpPr/>
          <p:nvPr/>
        </p:nvSpPr>
        <p:spPr>
          <a:xfrm>
            <a:off x="594360" y="607618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3"/>
          <p:cNvSpPr/>
          <p:nvPr/>
        </p:nvSpPr>
        <p:spPr>
          <a:xfrm>
            <a:off x="594360" y="60579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1143000" y="5975604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Saída para ativação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3"/>
          <p:cNvSpPr/>
          <p:nvPr/>
        </p:nvSpPr>
        <p:spPr>
          <a:xfrm>
            <a:off x="3977640" y="5975604"/>
            <a:ext cx="75438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Tabela de crédito por canal/campanha/dia → ativa otimização de lance e relatórios táticos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Modelagem Técnica MTA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24"/>
          <p:cNvSpPr/>
          <p:nvPr/>
        </p:nvSpPr>
        <p:spPr>
          <a:xfrm>
            <a:off x="8503920" y="914400"/>
            <a:ext cx="3291840" cy="329184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24"/>
          <p:cNvSpPr/>
          <p:nvPr/>
        </p:nvSpPr>
        <p:spPr>
          <a:xfrm>
            <a:off x="9006840" y="1234440"/>
            <a:ext cx="2834640" cy="283464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24"/>
          <p:cNvSpPr/>
          <p:nvPr/>
        </p:nvSpPr>
        <p:spPr>
          <a:xfrm>
            <a:off x="9509760" y="1554480"/>
            <a:ext cx="2377440" cy="237744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24"/>
          <p:cNvSpPr/>
          <p:nvPr/>
        </p:nvSpPr>
        <p:spPr>
          <a:xfrm>
            <a:off x="10012680" y="1874520"/>
            <a:ext cx="1920240" cy="192024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24"/>
          <p:cNvSpPr/>
          <p:nvPr/>
        </p:nvSpPr>
        <p:spPr>
          <a:xfrm>
            <a:off x="10515600" y="2194560"/>
            <a:ext cx="1463040" cy="146304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4"/>
          <p:cNvSpPr/>
          <p:nvPr/>
        </p:nvSpPr>
        <p:spPr>
          <a:xfrm>
            <a:off x="640080" y="2011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20 · NOVA SEÇÃO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4"/>
          <p:cNvSpPr/>
          <p:nvPr/>
        </p:nvSpPr>
        <p:spPr>
          <a:xfrm>
            <a:off x="621792" y="23774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MMM x MTA para Testes A/B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4"/>
          <p:cNvSpPr/>
          <p:nvPr/>
        </p:nvSpPr>
        <p:spPr>
          <a:xfrm>
            <a:off x="640080" y="352044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Como os outputs de MMM e MTA viram INSUMO de entrada no seu Framework de Governança de Experimentação (Roadmap Teste A/B): Opportunity → Hypothesis → Priorization → Design → Tracking → Results → Learning.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4"/>
          <p:cNvSpPr/>
          <p:nvPr/>
        </p:nvSpPr>
        <p:spPr>
          <a:xfrm>
            <a:off x="640080" y="4663440"/>
            <a:ext cx="393192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24"/>
          <p:cNvSpPr/>
          <p:nvPr/>
        </p:nvSpPr>
        <p:spPr>
          <a:xfrm>
            <a:off x="640080" y="466344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EXPERIMENTAÇÃO ORIENTADA POR DADOS DE MÍDIA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→ Testes A/B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4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5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 · MMM X MTA → TESTES A/B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5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Por Que Ligar Atribuição a Experimentação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5"/>
          <p:cNvSpPr/>
          <p:nvPr/>
        </p:nvSpPr>
        <p:spPr>
          <a:xfrm>
            <a:off x="457200" y="123444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e MTA dizem ONDE investir e QUAL canal contribui. Testes A/B provam CAUSALMENTE se uma mudança específica (criativo, página, oferta, jornada) realmente gera o efeito estimado. Um framework maduro fecha o ciclo entre os três.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5"/>
          <p:cNvSpPr/>
          <p:nvPr/>
        </p:nvSpPr>
        <p:spPr>
          <a:xfrm>
            <a:off x="457200" y="1920240"/>
            <a:ext cx="3657600" cy="4343400"/>
          </a:xfrm>
          <a:prstGeom prst="roundRect">
            <a:avLst>
              <a:gd fmla="val 1750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25"/>
          <p:cNvSpPr/>
          <p:nvPr/>
        </p:nvSpPr>
        <p:spPr>
          <a:xfrm>
            <a:off x="685800" y="210312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MMM → Testes A/B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5"/>
          <p:cNvSpPr/>
          <p:nvPr/>
        </p:nvSpPr>
        <p:spPr>
          <a:xfrm>
            <a:off x="713232" y="289864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25"/>
          <p:cNvSpPr/>
          <p:nvPr/>
        </p:nvSpPr>
        <p:spPr>
          <a:xfrm>
            <a:off x="914400" y="2761488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Aponta CANAL/DRIVER com maior contribuição marginal ainda não explorado (ex: TikTok subinvestido)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25"/>
          <p:cNvSpPr/>
          <p:nvPr/>
        </p:nvSpPr>
        <p:spPr>
          <a:xfrm>
            <a:off x="713232" y="4014216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25"/>
          <p:cNvSpPr/>
          <p:nvPr/>
        </p:nvSpPr>
        <p:spPr>
          <a:xfrm>
            <a:off x="914400" y="3877056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Sugere geo-experiments/holdouts para VALIDAR causalmente a curva de resposta estimada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5"/>
          <p:cNvSpPr/>
          <p:nvPr/>
        </p:nvSpPr>
        <p:spPr>
          <a:xfrm>
            <a:off x="713232" y="5129784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25"/>
          <p:cNvSpPr/>
          <p:nvPr/>
        </p:nvSpPr>
        <p:spPr>
          <a:xfrm>
            <a:off x="914400" y="4992624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Detecta canibalização (ex: Brand Search) → vira hipótese de teste de orçamento/criativo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5"/>
          <p:cNvSpPr/>
          <p:nvPr/>
        </p:nvSpPr>
        <p:spPr>
          <a:xfrm>
            <a:off x="4251960" y="1920240"/>
            <a:ext cx="3657600" cy="4343400"/>
          </a:xfrm>
          <a:prstGeom prst="roundRect">
            <a:avLst>
              <a:gd fmla="val 175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25"/>
          <p:cNvSpPr/>
          <p:nvPr/>
        </p:nvSpPr>
        <p:spPr>
          <a:xfrm>
            <a:off x="4480560" y="210312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MTA (DDA) → Testes A/B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5"/>
          <p:cNvSpPr/>
          <p:nvPr/>
        </p:nvSpPr>
        <p:spPr>
          <a:xfrm>
            <a:off x="4507992" y="289864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5"/>
          <p:cNvSpPr/>
          <p:nvPr/>
        </p:nvSpPr>
        <p:spPr>
          <a:xfrm>
            <a:off x="4709160" y="2761488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Aponta TOUCHPOINT/ETAPA da jornada com maior drop-off (funil de conversão)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5"/>
          <p:cNvSpPr/>
          <p:nvPr/>
        </p:nvSpPr>
        <p:spPr>
          <a:xfrm>
            <a:off x="4507992" y="4014216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25"/>
          <p:cNvSpPr/>
          <p:nvPr/>
        </p:nvSpPr>
        <p:spPr>
          <a:xfrm>
            <a:off x="4709160" y="3877056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Sinaliza público/criativo/canal com atribuição alta mas baixa eficiência real — vira hipótese de otimização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5"/>
          <p:cNvSpPr/>
          <p:nvPr/>
        </p:nvSpPr>
        <p:spPr>
          <a:xfrm>
            <a:off x="4507992" y="5129784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5"/>
          <p:cNvSpPr/>
          <p:nvPr/>
        </p:nvSpPr>
        <p:spPr>
          <a:xfrm>
            <a:off x="4709160" y="4992624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Fornece o baseline de conversão por segmento para dimensionar a amostra do teste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5"/>
          <p:cNvSpPr/>
          <p:nvPr/>
        </p:nvSpPr>
        <p:spPr>
          <a:xfrm>
            <a:off x="8046720" y="1920240"/>
            <a:ext cx="3657600" cy="4343400"/>
          </a:xfrm>
          <a:prstGeom prst="roundRect">
            <a:avLst>
              <a:gd fmla="val 1750" name="adj"/>
            </a:avLst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25"/>
          <p:cNvSpPr/>
          <p:nvPr/>
        </p:nvSpPr>
        <p:spPr>
          <a:xfrm>
            <a:off x="8275320" y="210312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Cambria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Testes A/B → MMM/MTA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5"/>
          <p:cNvSpPr/>
          <p:nvPr/>
        </p:nvSpPr>
        <p:spPr>
          <a:xfrm>
            <a:off x="8302752" y="289864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25"/>
          <p:cNvSpPr/>
          <p:nvPr/>
        </p:nvSpPr>
        <p:spPr>
          <a:xfrm>
            <a:off x="8503920" y="2761488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Resultado do teste (lift real, p-value) CALIBRA os coeficientes/priors do MMM (geo-lift como "verdade de campo")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5"/>
          <p:cNvSpPr/>
          <p:nvPr/>
        </p:nvSpPr>
        <p:spPr>
          <a:xfrm>
            <a:off x="8302752" y="4014216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25"/>
          <p:cNvSpPr/>
          <p:nvPr/>
        </p:nvSpPr>
        <p:spPr>
          <a:xfrm>
            <a:off x="8503920" y="3877056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 (ou refuta) o crédito que o DDA atribuía a um canal/criativo específico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5"/>
          <p:cNvSpPr/>
          <p:nvPr/>
        </p:nvSpPr>
        <p:spPr>
          <a:xfrm>
            <a:off x="8302752" y="5129784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25"/>
          <p:cNvSpPr/>
          <p:nvPr/>
        </p:nvSpPr>
        <p:spPr>
          <a:xfrm>
            <a:off x="8503920" y="4992624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Alimenta o Learning Repository, que retroalimenta a priorização (ICE) de novos testes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Por Que Ligar a Testes A/B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5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6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 · MMM X MTA → TESTES A/B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6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Seu Framework de Experimentação, Etapa por Etapa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6"/>
          <p:cNvSpPr/>
          <p:nvPr/>
        </p:nvSpPr>
        <p:spPr>
          <a:xfrm>
            <a:off x="457200" y="123444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Mapeamento das 7 abas do Roadmap Teste A/B com a origem de dado (MMM, MTA/DDA ou Data Layer) que alimenta cada etapa.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6"/>
          <p:cNvSpPr/>
          <p:nvPr/>
        </p:nvSpPr>
        <p:spPr>
          <a:xfrm>
            <a:off x="457200" y="1691640"/>
            <a:ext cx="11247120" cy="576072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26"/>
          <p:cNvSpPr/>
          <p:nvPr/>
        </p:nvSpPr>
        <p:spPr>
          <a:xfrm>
            <a:off x="576072" y="177850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26"/>
          <p:cNvSpPr/>
          <p:nvPr/>
        </p:nvSpPr>
        <p:spPr>
          <a:xfrm>
            <a:off x="576072" y="17602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26"/>
          <p:cNvSpPr/>
          <p:nvPr/>
        </p:nvSpPr>
        <p:spPr>
          <a:xfrm>
            <a:off x="1097280" y="1691640"/>
            <a:ext cx="16916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Opportunity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26"/>
          <p:cNvSpPr/>
          <p:nvPr/>
        </p:nvSpPr>
        <p:spPr>
          <a:xfrm>
            <a:off x="2834640" y="1691640"/>
            <a:ext cx="2331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30"/>
              <a:buFont typeface="Calibri"/>
              <a:buNone/>
            </a:pPr>
            <a:r>
              <a:rPr b="0" i="1" lang="en-US" sz="93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Backlog de oportunidades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6"/>
          <p:cNvSpPr/>
          <p:nvPr/>
        </p:nvSpPr>
        <p:spPr>
          <a:xfrm>
            <a:off x="5212080" y="1691640"/>
            <a:ext cx="64008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MMM aponta driver/canal com contribuição abaixo do esperado · MTA aponta etapa do funil com maior drop-off (funnel_analysis, hotjar)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6"/>
          <p:cNvSpPr/>
          <p:nvPr/>
        </p:nvSpPr>
        <p:spPr>
          <a:xfrm>
            <a:off x="457200" y="2308860"/>
            <a:ext cx="11247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26"/>
          <p:cNvSpPr/>
          <p:nvPr/>
        </p:nvSpPr>
        <p:spPr>
          <a:xfrm>
            <a:off x="576072" y="2395728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6" name="Google Shape;786;p26"/>
          <p:cNvSpPr/>
          <p:nvPr/>
        </p:nvSpPr>
        <p:spPr>
          <a:xfrm>
            <a:off x="576072" y="23774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26"/>
          <p:cNvSpPr/>
          <p:nvPr/>
        </p:nvSpPr>
        <p:spPr>
          <a:xfrm>
            <a:off x="1097280" y="2308860"/>
            <a:ext cx="16916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Hypothesis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6"/>
          <p:cNvSpPr/>
          <p:nvPr/>
        </p:nvSpPr>
        <p:spPr>
          <a:xfrm>
            <a:off x="2834640" y="2308860"/>
            <a:ext cx="2331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30"/>
              <a:buFont typeface="Calibri"/>
              <a:buNone/>
            </a:pPr>
            <a:r>
              <a:rPr b="0" i="1" lang="en-US" sz="93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Hipótese testável (Se/Então/Porque)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6"/>
          <p:cNvSpPr/>
          <p:nvPr/>
        </p:nvSpPr>
        <p:spPr>
          <a:xfrm>
            <a:off x="5212080" y="2308860"/>
            <a:ext cx="64008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baseline_conversion_% vem do GA4/BQ (mesma fonte do MTA) · minimum_detectable_effect_% dimensionado a partir do lift estimado pelo MMM/geo-test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6"/>
          <p:cNvSpPr/>
          <p:nvPr/>
        </p:nvSpPr>
        <p:spPr>
          <a:xfrm>
            <a:off x="457200" y="2926080"/>
            <a:ext cx="11247120" cy="576072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26"/>
          <p:cNvSpPr/>
          <p:nvPr/>
        </p:nvSpPr>
        <p:spPr>
          <a:xfrm>
            <a:off x="576072" y="301294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26"/>
          <p:cNvSpPr/>
          <p:nvPr/>
        </p:nvSpPr>
        <p:spPr>
          <a:xfrm>
            <a:off x="576072" y="299466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6"/>
          <p:cNvSpPr/>
          <p:nvPr/>
        </p:nvSpPr>
        <p:spPr>
          <a:xfrm>
            <a:off x="1097280" y="2926080"/>
            <a:ext cx="16916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Priorization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6"/>
          <p:cNvSpPr/>
          <p:nvPr/>
        </p:nvSpPr>
        <p:spPr>
          <a:xfrm>
            <a:off x="2834640" y="2926080"/>
            <a:ext cx="2331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30"/>
              <a:buFont typeface="Calibri"/>
              <a:buNone/>
            </a:pPr>
            <a:r>
              <a:rPr b="0" i="1" lang="en-US" sz="93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ICE Score (Impact × Confidence × Ease)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6"/>
          <p:cNvSpPr/>
          <p:nvPr/>
        </p:nvSpPr>
        <p:spPr>
          <a:xfrm>
            <a:off x="5212080" y="2926080"/>
            <a:ext cx="64008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Impact ponderado pela contribuição incremental do MMM para aquele driver · Confidence aumenta se já existe geo-experiment validando a direção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6"/>
          <p:cNvSpPr/>
          <p:nvPr/>
        </p:nvSpPr>
        <p:spPr>
          <a:xfrm>
            <a:off x="457200" y="3543300"/>
            <a:ext cx="11247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6"/>
          <p:cNvSpPr/>
          <p:nvPr/>
        </p:nvSpPr>
        <p:spPr>
          <a:xfrm>
            <a:off x="576072" y="3630168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26"/>
          <p:cNvSpPr/>
          <p:nvPr/>
        </p:nvSpPr>
        <p:spPr>
          <a:xfrm>
            <a:off x="576072" y="36118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6"/>
          <p:cNvSpPr/>
          <p:nvPr/>
        </p:nvSpPr>
        <p:spPr>
          <a:xfrm>
            <a:off x="1097280" y="3543300"/>
            <a:ext cx="16916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Design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6"/>
          <p:cNvSpPr/>
          <p:nvPr/>
        </p:nvSpPr>
        <p:spPr>
          <a:xfrm>
            <a:off x="2834640" y="3543300"/>
            <a:ext cx="2331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30"/>
              <a:buFont typeface="Calibri"/>
              <a:buNone/>
            </a:pPr>
            <a:r>
              <a:rPr b="0" i="1" lang="en-US" sz="93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Especificação do teste (Control/Variant, split, métrica)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6"/>
          <p:cNvSpPr/>
          <p:nvPr/>
        </p:nvSpPr>
        <p:spPr>
          <a:xfrm>
            <a:off x="5212080" y="3543300"/>
            <a:ext cx="64008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metrica_primaria = KPI/DV do MMM (ex: conversion rate, receita) · sample_size calculado na aba Calculator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6"/>
          <p:cNvSpPr/>
          <p:nvPr/>
        </p:nvSpPr>
        <p:spPr>
          <a:xfrm>
            <a:off x="457200" y="4160520"/>
            <a:ext cx="11247120" cy="576072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26"/>
          <p:cNvSpPr/>
          <p:nvPr/>
        </p:nvSpPr>
        <p:spPr>
          <a:xfrm>
            <a:off x="576072" y="424738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6"/>
          <p:cNvSpPr/>
          <p:nvPr/>
        </p:nvSpPr>
        <p:spPr>
          <a:xfrm>
            <a:off x="576072" y="42291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6"/>
          <p:cNvSpPr/>
          <p:nvPr/>
        </p:nvSpPr>
        <p:spPr>
          <a:xfrm>
            <a:off x="1097280" y="4160520"/>
            <a:ext cx="16916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Analytics | Tracking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6"/>
          <p:cNvSpPr/>
          <p:nvPr/>
        </p:nvSpPr>
        <p:spPr>
          <a:xfrm>
            <a:off x="2834640" y="4160520"/>
            <a:ext cx="2331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30"/>
              <a:buFont typeface="Calibri"/>
              <a:buNone/>
            </a:pPr>
            <a:r>
              <a:rPr b="0" i="1" lang="en-US" sz="93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Pipeline operacional (Ideation→Running)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6"/>
          <p:cNvSpPr/>
          <p:nvPr/>
        </p:nvSpPr>
        <p:spPr>
          <a:xfrm>
            <a:off x="5212080" y="4160520"/>
            <a:ext cx="64008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Eventos do Data Layer (GTM) instrumentam a variante · status_teste_running conecta ao GA4 DebugView/QA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6"/>
          <p:cNvSpPr/>
          <p:nvPr/>
        </p:nvSpPr>
        <p:spPr>
          <a:xfrm>
            <a:off x="457200" y="4777740"/>
            <a:ext cx="11247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6"/>
          <p:cNvSpPr/>
          <p:nvPr/>
        </p:nvSpPr>
        <p:spPr>
          <a:xfrm>
            <a:off x="576072" y="4864608"/>
            <a:ext cx="384048" cy="384048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6"/>
          <p:cNvSpPr/>
          <p:nvPr/>
        </p:nvSpPr>
        <p:spPr>
          <a:xfrm>
            <a:off x="576072" y="48463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6"/>
          <p:cNvSpPr/>
          <p:nvPr/>
        </p:nvSpPr>
        <p:spPr>
          <a:xfrm>
            <a:off x="1097280" y="4777740"/>
            <a:ext cx="16916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Analytics | Results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6"/>
          <p:cNvSpPr/>
          <p:nvPr/>
        </p:nvSpPr>
        <p:spPr>
          <a:xfrm>
            <a:off x="2834640" y="4777740"/>
            <a:ext cx="2331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30"/>
              <a:buFont typeface="Calibri"/>
              <a:buNone/>
            </a:pPr>
            <a:r>
              <a:rPr b="0" i="1" lang="en-US" sz="93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Resultado estatístico (lift, p-value, PBB)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6"/>
          <p:cNvSpPr/>
          <p:nvPr/>
        </p:nvSpPr>
        <p:spPr>
          <a:xfrm>
            <a:off x="5212080" y="4777740"/>
            <a:ext cx="64008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Comparado contra o crédito do DDA (mesma métrica) e contra a curva de resposta do MMM — ver slide de validação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6"/>
          <p:cNvSpPr/>
          <p:nvPr/>
        </p:nvSpPr>
        <p:spPr>
          <a:xfrm>
            <a:off x="457200" y="5394960"/>
            <a:ext cx="11247120" cy="576072"/>
          </a:xfrm>
          <a:prstGeom prst="rect">
            <a:avLst/>
          </a:prstGeom>
          <a:solidFill>
            <a:srgbClr val="F7FA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6"/>
          <p:cNvSpPr/>
          <p:nvPr/>
        </p:nvSpPr>
        <p:spPr>
          <a:xfrm>
            <a:off x="576072" y="5481828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26"/>
          <p:cNvSpPr/>
          <p:nvPr/>
        </p:nvSpPr>
        <p:spPr>
          <a:xfrm>
            <a:off x="576072" y="54635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6"/>
          <p:cNvSpPr/>
          <p:nvPr/>
        </p:nvSpPr>
        <p:spPr>
          <a:xfrm>
            <a:off x="1097280" y="5394960"/>
            <a:ext cx="169164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080"/>
              <a:buFont typeface="Calibri"/>
              <a:buNone/>
            </a:pPr>
            <a:r>
              <a:rPr b="1" i="0" lang="en-US" sz="108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Learning Repository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6"/>
          <p:cNvSpPr/>
          <p:nvPr/>
        </p:nvSpPr>
        <p:spPr>
          <a:xfrm>
            <a:off x="2834640" y="5394960"/>
            <a:ext cx="233172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30"/>
              <a:buFont typeface="Calibri"/>
              <a:buNone/>
            </a:pPr>
            <a:r>
              <a:rPr b="0" i="1" lang="en-US" sz="93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Insight e próximo teste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5212080" y="5394960"/>
            <a:ext cx="6400800" cy="5760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30"/>
              <a:buFont typeface="Calibri"/>
              <a:buNone/>
            </a:pPr>
            <a:r>
              <a:rPr b="0" i="0" lang="en-US" sz="93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Insight retroalimenta: prior do MMM (recalibra coeficiente) + peso do MTA (revalida canal) + novo item no Opportunity</a:t>
            </a:r>
            <a:endParaRPr b="0" i="0" sz="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Funil de Experimentação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6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27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 · MMM X MTA → TESTES A/B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7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MMM Alimentando Testes A/B: Geo-Experiments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7"/>
          <p:cNvSpPr/>
          <p:nvPr/>
        </p:nvSpPr>
        <p:spPr>
          <a:xfrm>
            <a:off x="457200" y="1417320"/>
            <a:ext cx="5440680" cy="4617720"/>
          </a:xfrm>
          <a:prstGeom prst="roundRect">
            <a:avLst>
              <a:gd fmla="val 1188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27"/>
          <p:cNvSpPr/>
          <p:nvPr/>
        </p:nvSpPr>
        <p:spPr>
          <a:xfrm>
            <a:off x="658368" y="15727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 PROBLEMA QUE RESOLVE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7"/>
          <p:cNvSpPr/>
          <p:nvPr/>
        </p:nvSpPr>
        <p:spPr>
          <a:xfrm>
            <a:off x="658368" y="187452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O MMM estima contribuição via regressão — correlação, não prova causal. Para validar de fato o incremental de um canal (ex: "Meta Ads realmente gera +18% de vendas?"), é preciso um experimento real de mercado.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7"/>
          <p:cNvSpPr/>
          <p:nvPr/>
        </p:nvSpPr>
        <p:spPr>
          <a:xfrm>
            <a:off x="658368" y="26974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COMO FUNCIONA (Matched-Market / Geo Holdout)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7"/>
          <p:cNvSpPr/>
          <p:nvPr/>
        </p:nvSpPr>
        <p:spPr>
          <a:xfrm>
            <a:off x="685800" y="3035808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27"/>
          <p:cNvSpPr/>
          <p:nvPr/>
        </p:nvSpPr>
        <p:spPr>
          <a:xfrm>
            <a:off x="685800" y="301752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7"/>
          <p:cNvSpPr/>
          <p:nvPr/>
        </p:nvSpPr>
        <p:spPr>
          <a:xfrm>
            <a:off x="1097280" y="2971800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Dividir regiões/DMAs/lojas em grupos pareados por similaridade histórica (test x control)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7"/>
          <p:cNvSpPr/>
          <p:nvPr/>
        </p:nvSpPr>
        <p:spPr>
          <a:xfrm>
            <a:off x="685800" y="3602736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7"/>
          <p:cNvSpPr/>
          <p:nvPr/>
        </p:nvSpPr>
        <p:spPr>
          <a:xfrm>
            <a:off x="685800" y="3584448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7"/>
          <p:cNvSpPr/>
          <p:nvPr/>
        </p:nvSpPr>
        <p:spPr>
          <a:xfrm>
            <a:off x="1097280" y="3538728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Pausar ou variar investimento (ex.: -50%) do canal testado APENAS no grupo teste, por N semanas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7"/>
          <p:cNvSpPr/>
          <p:nvPr/>
        </p:nvSpPr>
        <p:spPr>
          <a:xfrm>
            <a:off x="685800" y="4169664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27"/>
          <p:cNvSpPr/>
          <p:nvPr/>
        </p:nvSpPr>
        <p:spPr>
          <a:xfrm>
            <a:off x="685800" y="4151376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7"/>
          <p:cNvSpPr/>
          <p:nvPr/>
        </p:nvSpPr>
        <p:spPr>
          <a:xfrm>
            <a:off x="1097280" y="4105656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Medir a diferença incremental de conversão/receita entre grupo teste e controle (contrafactual)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7"/>
          <p:cNvSpPr/>
          <p:nvPr/>
        </p:nvSpPr>
        <p:spPr>
          <a:xfrm>
            <a:off x="685800" y="4736592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7"/>
          <p:cNvSpPr/>
          <p:nvPr/>
        </p:nvSpPr>
        <p:spPr>
          <a:xfrm>
            <a:off x="685800" y="4718304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7"/>
          <p:cNvSpPr/>
          <p:nvPr/>
        </p:nvSpPr>
        <p:spPr>
          <a:xfrm>
            <a:off x="1097280" y="4672584"/>
            <a:ext cx="4617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Comparar o lift observado com o lift previsto pelo MMM para aquele canal/nível de investimento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7"/>
          <p:cNvSpPr/>
          <p:nvPr/>
        </p:nvSpPr>
        <p:spPr>
          <a:xfrm>
            <a:off x="6263640" y="1417320"/>
            <a:ext cx="5440680" cy="4617720"/>
          </a:xfrm>
          <a:prstGeom prst="roundRect">
            <a:avLst>
              <a:gd fmla="val 1188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27"/>
          <p:cNvSpPr/>
          <p:nvPr/>
        </p:nvSpPr>
        <p:spPr>
          <a:xfrm>
            <a:off x="6464808" y="157276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FERRAMENTAS E MÉTODOS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7"/>
          <p:cNvSpPr/>
          <p:nvPr/>
        </p:nvSpPr>
        <p:spPr>
          <a:xfrm>
            <a:off x="6464808" y="190195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Google — CausalImpact (R/Python)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7"/>
          <p:cNvSpPr/>
          <p:nvPr/>
        </p:nvSpPr>
        <p:spPr>
          <a:xfrm>
            <a:off x="6464808" y="214884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Bayesian structural time-series; estima o contrafactual de uma série temporal sem grupo controle explícito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7"/>
          <p:cNvSpPr/>
          <p:nvPr/>
        </p:nvSpPr>
        <p:spPr>
          <a:xfrm>
            <a:off x="6464808" y="267919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Google — Geo Experiments Methodology (GeoexperimentsResearch)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7"/>
          <p:cNvSpPr/>
          <p:nvPr/>
        </p:nvSpPr>
        <p:spPr>
          <a:xfrm>
            <a:off x="6464808" y="292608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Framework de matched-market testing usado nativamente em Google Ads geo holdout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27"/>
          <p:cNvSpPr/>
          <p:nvPr/>
        </p:nvSpPr>
        <p:spPr>
          <a:xfrm>
            <a:off x="6464808" y="345643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Meta — Conversion Lift / Geo Lift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7"/>
          <p:cNvSpPr/>
          <p:nvPr/>
        </p:nvSpPr>
        <p:spPr>
          <a:xfrm>
            <a:off x="6464808" y="370332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Holdout nativo da plataforma; mede incremental real de campanhas Meta 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7"/>
          <p:cNvSpPr/>
          <p:nvPr/>
        </p:nvSpPr>
        <p:spPr>
          <a:xfrm>
            <a:off x="6464808" y="423367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Google Meridian (open-source)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7"/>
          <p:cNvSpPr/>
          <p:nvPr/>
        </p:nvSpPr>
        <p:spPr>
          <a:xfrm>
            <a:off x="6464808" y="448056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MMM Bayesiano do Google já preparado para incorporar resultados de geo-lift como prior/calibração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7"/>
          <p:cNvSpPr/>
          <p:nvPr/>
        </p:nvSpPr>
        <p:spPr>
          <a:xfrm>
            <a:off x="6464808" y="501091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Switchback tests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7"/>
          <p:cNvSpPr/>
          <p:nvPr/>
        </p:nvSpPr>
        <p:spPr>
          <a:xfrm>
            <a:off x="6464808" y="5257800"/>
            <a:ext cx="5029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Alternância temporal (liga/desliga o canal em janelas curtas) — útil quando não dá para segmentar por geografia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→ Geo-Experiments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7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28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 · MMM X MTA → TESTES A/B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8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MTA Alimentando Testes A/B: Funil, Criativo e Público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8"/>
          <p:cNvSpPr/>
          <p:nvPr/>
        </p:nvSpPr>
        <p:spPr>
          <a:xfrm>
            <a:off x="457200" y="123444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Diferente do MMM (que gera hipóteses de ALOCAÇÃO DE BUDGET), o MTA/DDA gera hipóteses de OTIMIZAÇÃO DENTRO do canal — o insumo natural para o backlog de CRO/growth do seu framework.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69" name="Google Shape;869;p28"/>
          <p:cNvGraphicFramePr/>
          <p:nvPr/>
        </p:nvGraphicFramePr>
        <p:xfrm>
          <a:off x="45720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{84AA15C9-5FAD-4DD2-8E68-FDBF2CEA2301}</a:tableStyleId>
              </a:tblPr>
              <a:tblGrid>
                <a:gridCol w="3749050"/>
                <a:gridCol w="5212075"/>
                <a:gridCol w="2286000"/>
              </a:tblGrid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</a:rPr>
                        <a:t>Sinal do MTA/DDA</a:t>
                      </a:r>
                      <a:endParaRPr sz="103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</a:rPr>
                        <a:t>Hipótese Gerada (aba Hypothesis)</a:t>
                      </a:r>
                      <a:endParaRPr sz="103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30"/>
                        <a:buFont typeface="Calibri"/>
                        <a:buNone/>
                      </a:pPr>
                      <a:r>
                        <a:rPr b="1" lang="en-US" sz="1030" u="none" cap="none" strike="noStrike">
                          <a:solidFill>
                            <a:srgbClr val="FFFFFF"/>
                          </a:solidFill>
                        </a:rPr>
                        <a:t>Métrica Primária (aba Design)</a:t>
                      </a:r>
                      <a:endParaRPr sz="103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Alto abandono em begin_checkout → add_payment_info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Se simplificarmos os campos de pagamento no mobile, então a conversão aumenta, porque dados mostram 62% de drop no step 2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conversion_rate (checkout)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DDA credita muito a Branded Search mas MMM mostra baixo incremental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Se reduzirmos o lance de Branded Search e realocarmos para TikTok Ads, então o CAC total melhora, porque o MMM indica canibalização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CAC / receita incremental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Criativo de Meta Ads com alto CTR mas baixa conversão pós-clique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Se ajustarmos a landing page para casar com a promessa do criativo, então a taxa de conversão pós-clique aumenta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conversion_rate (landing)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76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970"/>
                        <a:buFont typeface="Calibri"/>
                        <a:buNone/>
                      </a:pPr>
                      <a:r>
                        <a:rPr b="1" lang="en-US" sz="970" u="none" cap="none" strike="noStrike">
                          <a:solidFill>
                            <a:srgbClr val="21295C"/>
                          </a:solidFill>
                        </a:rPr>
                        <a:t>Sessões de TikTok Ads com alta taxa de rejeição (screen_view sem engajamento)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Se otimizarmos o above-the-fold para mobile/TikTok, então o engajamento (scroll/slider_mosaic) aumenta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970"/>
                        <a:buFont typeface="Calibri"/>
                        <a:buNone/>
                      </a:pPr>
                      <a:r>
                        <a:rPr lang="en-US" sz="970" u="none" cap="none" strike="noStrike">
                          <a:solidFill>
                            <a:srgbClr val="1A2733"/>
                          </a:solidFill>
                        </a:rPr>
                        <a:t>engagement_rate</a:t>
                      </a:r>
                      <a:endParaRPr sz="970" u="none" cap="none" strike="noStrike"/>
                    </a:p>
                  </a:txBody>
                  <a:tcPr marT="50800" marB="50800" marR="76200" marL="762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</a:tbl>
          </a:graphicData>
        </a:graphic>
      </p:graphicFrame>
      <p:sp>
        <p:nvSpPr>
          <p:cNvPr id="870" name="Google Shape;870;p28"/>
          <p:cNvSpPr/>
          <p:nvPr/>
        </p:nvSpPr>
        <p:spPr>
          <a:xfrm>
            <a:off x="457200" y="5349240"/>
            <a:ext cx="11247120" cy="777240"/>
          </a:xfrm>
          <a:prstGeom prst="roundRect">
            <a:avLst>
              <a:gd fmla="val 705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28"/>
          <p:cNvSpPr/>
          <p:nvPr/>
        </p:nvSpPr>
        <p:spPr>
          <a:xfrm>
            <a:off x="685800" y="5486400"/>
            <a:ext cx="10789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Esses sinais entram diretamente na aba Opportunity do seu Roadmap Teste A/B (campo fonte_tool = 'ga4_analytics' / 'mmm_model'), com evidência quantitativa já anexada.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MTA → Testes A/B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8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9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20 · MMM X MTA → TESTES A/B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9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Ferramentas e Métodos para Cada Tipo de Teste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82" name="Google Shape;882;p29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{84AA15C9-5FAD-4DD2-8E68-FDBF2CEA2301}</a:tableStyleId>
              </a:tblPr>
              <a:tblGrid>
                <a:gridCol w="2286000"/>
                <a:gridCol w="2834650"/>
                <a:gridCol w="3200400"/>
                <a:gridCol w="2926075"/>
              </a:tblGrid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FFFFFF"/>
                          </a:solidFill>
                        </a:rPr>
                        <a:t>Tipo de Teste</a:t>
                      </a:r>
                      <a:endParaRPr sz="98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FFFFFF"/>
                          </a:solidFill>
                        </a:rPr>
                        <a:t>Quando Usar</a:t>
                      </a:r>
                      <a:endParaRPr sz="98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FFFFFF"/>
                          </a:solidFill>
                        </a:rPr>
                        <a:t>Método Estatístico</a:t>
                      </a:r>
                      <a:endParaRPr sz="98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80"/>
                        <a:buFont typeface="Calibri"/>
                        <a:buNone/>
                      </a:pPr>
                      <a:r>
                        <a:rPr b="1" lang="en-US" sz="980" u="none" cap="none" strike="noStrike">
                          <a:solidFill>
                            <a:srgbClr val="FFFFFF"/>
                          </a:solidFill>
                        </a:rPr>
                        <a:t>Ferramenta</a:t>
                      </a:r>
                      <a:endParaRPr sz="98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8A33D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870"/>
                        <a:buFont typeface="Calibri"/>
                        <a:buNone/>
                      </a:pPr>
                      <a:r>
                        <a:rPr b="1" lang="en-US" sz="870" u="none" cap="none" strike="noStrike">
                          <a:solidFill>
                            <a:srgbClr val="21295C"/>
                          </a:solidFill>
                        </a:rPr>
                        <a:t>A/B clássico (Frequentista)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Teste de UI/UX, criativo, copy — 1 métrica primária clara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Z-test / Qui-quadrado para proporções, p-value, IC 95%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Sua aba 'Calculator | AB Test' (Significance Calculator) · VWO · GA4 Experiments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870"/>
                        <a:buFont typeface="Calibri"/>
                        <a:buNone/>
                      </a:pPr>
                      <a:r>
                        <a:rPr b="1" lang="en-US" sz="870" u="none" cap="none" strike="noStrike">
                          <a:solidFill>
                            <a:srgbClr val="21295C"/>
                          </a:solidFill>
                        </a:rPr>
                        <a:t>Bayesiano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Quando quer falar em probabilidade de ser vencedor ("93% de chance de a Variant ganhar"), não em p-value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Distribuição Beta-Binomial, posterior probability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PyMC · Bayesian A/B Testing (VWO/Optimizely já oferecem)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870"/>
                        <a:buFont typeface="Calibri"/>
                        <a:buNone/>
                      </a:pPr>
                      <a:r>
                        <a:rPr b="1" lang="en-US" sz="870" u="none" cap="none" strike="noStrike">
                          <a:solidFill>
                            <a:srgbClr val="21295C"/>
                          </a:solidFill>
                        </a:rPr>
                        <a:t>Sequencial (Sequential Testing)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Precisa decidir/parar o teste antes do prazo fixo sem inflar falso-positivo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SPRT (Sequential Probability Ratio Test) / mSPRT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Optimizely Stats Engine · pacote 'confseq' (Python)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870"/>
                        <a:buFont typeface="Calibri"/>
                        <a:buNone/>
                      </a:pPr>
                      <a:r>
                        <a:rPr b="1" lang="en-US" sz="870" u="none" cap="none" strike="noStrike">
                          <a:solidFill>
                            <a:srgbClr val="21295C"/>
                          </a:solidFill>
                        </a:rPr>
                        <a:t>CUPED (redução de variância)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Alto tráfego mas pouco tempo — quer significância mais rápido usando dado pré-teste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Ajuste da métrica por covariável pré-experimento (ex: comportamento histórico do usuário)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Implementação custom em Python/BQ sobre fct_mta_touchpoint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870"/>
                        <a:buFont typeface="Calibri"/>
                        <a:buNone/>
                      </a:pPr>
                      <a:r>
                        <a:rPr b="1" lang="en-US" sz="870" u="none" cap="none" strike="noStrike">
                          <a:solidFill>
                            <a:srgbClr val="21295C"/>
                          </a:solidFill>
                        </a:rPr>
                        <a:t>Geo Holdout / Matched-Market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Validar incrementalidade de CANAL de mídia (ligação direta com o MMM)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Diferença-em-diferenças (DiD) / CausalImpact (Bayesian structural time series)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Google Geo Experiments · Meta Conversion Lift · Meridian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870"/>
                        <a:buFont typeface="Calibri"/>
                        <a:buNone/>
                      </a:pPr>
                      <a:r>
                        <a:rPr b="1" lang="en-US" sz="870" u="none" cap="none" strike="noStrike">
                          <a:solidFill>
                            <a:srgbClr val="21295C"/>
                          </a:solidFill>
                        </a:rPr>
                        <a:t>Switchback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Canal/feature não segmentável por geografia (ex: marketplace, pricing dinâmico)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Blocos temporais aleatorizados + modelo de efeito fixo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Implementação custom (Python) sobre janelas de tempo no BQ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AFB"/>
                    </a:solidFill>
                  </a:tcPr>
                </a:tc>
              </a:tr>
              <a:tr h="61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1295C"/>
                        </a:buClr>
                        <a:buSzPts val="870"/>
                        <a:buFont typeface="Calibri"/>
                        <a:buNone/>
                      </a:pPr>
                      <a:r>
                        <a:rPr b="1" lang="en-US" sz="870" u="none" cap="none" strike="noStrike">
                          <a:solidFill>
                            <a:srgbClr val="21295C"/>
                          </a:solidFill>
                        </a:rPr>
                        <a:t>Multi-Armed Bandit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Quer minimizar custo de oportunidade durante o teste (aloca tráfego dinamicamente ao vencedor parcial)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Thompson Sampling / UCB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733"/>
                        </a:buClr>
                        <a:buSzPts val="870"/>
                        <a:buFont typeface="Calibri"/>
                        <a:buNone/>
                      </a:pPr>
                      <a:r>
                        <a:rPr lang="en-US" sz="870" u="none" cap="none" strike="noStrike">
                          <a:solidFill>
                            <a:srgbClr val="1A2733"/>
                          </a:solidFill>
                        </a:rPr>
                        <a:t>Google Optimize (legado) · VWO · implementação custom</a:t>
                      </a:r>
                      <a:endParaRPr sz="870" u="none" cap="none" strike="noStrike"/>
                    </a:p>
                  </a:txBody>
                  <a:tcPr marT="38100" marB="38100" marR="63500" marL="63500" anchor="ctr">
                    <a:lnL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E1E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83" name="Google Shape;883;p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Ferramentas e Métodos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29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29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0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20 · MMM X MTA → TESTES A/B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30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Cambria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Fechando o Loop: MMM ⇄ MTA ⇄ Testes A/B ⇄ Learning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30"/>
          <p:cNvSpPr/>
          <p:nvPr/>
        </p:nvSpPr>
        <p:spPr>
          <a:xfrm>
            <a:off x="457200" y="1371600"/>
            <a:ext cx="5440680" cy="2331720"/>
          </a:xfrm>
          <a:prstGeom prst="roundRect">
            <a:avLst>
              <a:gd fmla="val 2353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30"/>
          <p:cNvSpPr/>
          <p:nvPr/>
        </p:nvSpPr>
        <p:spPr>
          <a:xfrm>
            <a:off x="658368" y="15179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SUA ABA 'CALCULATOR | AB TEST'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30"/>
          <p:cNvSpPr/>
          <p:nvPr/>
        </p:nvSpPr>
        <p:spPr>
          <a:xfrm>
            <a:off x="658368" y="1810512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Já cobre: estimativa de duração do teste, mid-range impact estimation e o Significance Calculator (Z-score/p-value/IC). O input de 'Expected conversion rate' e 'Expected improvement' deve vir do: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30"/>
          <p:cNvSpPr/>
          <p:nvPr/>
        </p:nvSpPr>
        <p:spPr>
          <a:xfrm>
            <a:off x="658368" y="248716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MMM → lift esperado por canal/driver (curva de resposta)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MTA/DDA → baseline_conversion_% real do segmento (GA4/BQ)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30"/>
          <p:cNvSpPr/>
          <p:nvPr/>
        </p:nvSpPr>
        <p:spPr>
          <a:xfrm>
            <a:off x="6263640" y="1371600"/>
            <a:ext cx="5440680" cy="2331720"/>
          </a:xfrm>
          <a:prstGeom prst="roundRect">
            <a:avLst>
              <a:gd fmla="val 2353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30"/>
          <p:cNvSpPr/>
          <p:nvPr/>
        </p:nvSpPr>
        <p:spPr>
          <a:xfrm>
            <a:off x="6464808" y="15179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VALIDAÇÃO CRUZADA NA ABA 'RESULTS'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30"/>
          <p:cNvSpPr/>
          <p:nvPr/>
        </p:nvSpPr>
        <p:spPr>
          <a:xfrm>
            <a:off x="6464808" y="181051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0"/>
              <a:buFont typeface="Calibri"/>
              <a:buNone/>
            </a:pPr>
            <a:r>
              <a:rPr b="0" i="0" lang="en-US" sz="103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Ao preencher lift_%, p_value_% e resultado (ganhador/perdedor/neutro), compare com: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30"/>
          <p:cNvSpPr/>
          <p:nvPr/>
        </p:nvSpPr>
        <p:spPr>
          <a:xfrm>
            <a:off x="6464808" y="214884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Lift previsto pelo MMM → se muito diferente, recalibrar o modelo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030"/>
              <a:buFont typeface="Calibri"/>
              <a:buNone/>
            </a:pPr>
            <a:r>
              <a:rPr b="1" i="0" lang="en-US" sz="103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• Crédito do DDA para aquele canal/página → se muito diferente, revisar a janela de atribuição</a:t>
            </a:r>
            <a:endParaRPr b="0" i="0" sz="10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30"/>
          <p:cNvSpPr/>
          <p:nvPr/>
        </p:nvSpPr>
        <p:spPr>
          <a:xfrm>
            <a:off x="457200" y="38862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LOOP FECHADO DE GOVERNANÇA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30"/>
          <p:cNvSpPr/>
          <p:nvPr/>
        </p:nvSpPr>
        <p:spPr>
          <a:xfrm>
            <a:off x="2148840" y="4297680"/>
            <a:ext cx="1005840" cy="1005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30"/>
          <p:cNvSpPr/>
          <p:nvPr/>
        </p:nvSpPr>
        <p:spPr>
          <a:xfrm>
            <a:off x="2148840" y="4279392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30"/>
          <p:cNvSpPr/>
          <p:nvPr/>
        </p:nvSpPr>
        <p:spPr>
          <a:xfrm>
            <a:off x="3200400" y="4251960"/>
            <a:ext cx="822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30"/>
          <p:cNvSpPr/>
          <p:nvPr/>
        </p:nvSpPr>
        <p:spPr>
          <a:xfrm>
            <a:off x="4892040" y="4297680"/>
            <a:ext cx="1005840" cy="1005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0"/>
          <p:cNvSpPr/>
          <p:nvPr/>
        </p:nvSpPr>
        <p:spPr>
          <a:xfrm>
            <a:off x="4892040" y="4279392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MTA / DDA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30"/>
          <p:cNvSpPr/>
          <p:nvPr/>
        </p:nvSpPr>
        <p:spPr>
          <a:xfrm>
            <a:off x="5943600" y="4251960"/>
            <a:ext cx="822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30"/>
          <p:cNvSpPr/>
          <p:nvPr/>
        </p:nvSpPr>
        <p:spPr>
          <a:xfrm>
            <a:off x="7635240" y="4297680"/>
            <a:ext cx="1005840" cy="100584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30"/>
          <p:cNvSpPr/>
          <p:nvPr/>
        </p:nvSpPr>
        <p:spPr>
          <a:xfrm>
            <a:off x="7635240" y="4279392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Testes A/B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30"/>
          <p:cNvSpPr/>
          <p:nvPr/>
        </p:nvSpPr>
        <p:spPr>
          <a:xfrm>
            <a:off x="8686800" y="4251960"/>
            <a:ext cx="822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30"/>
          <p:cNvSpPr/>
          <p:nvPr/>
        </p:nvSpPr>
        <p:spPr>
          <a:xfrm>
            <a:off x="10104120" y="4297680"/>
            <a:ext cx="1005840" cy="10058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30"/>
          <p:cNvSpPr/>
          <p:nvPr/>
        </p:nvSpPr>
        <p:spPr>
          <a:xfrm>
            <a:off x="10104120" y="4279392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Repository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30"/>
          <p:cNvSpPr/>
          <p:nvPr/>
        </p:nvSpPr>
        <p:spPr>
          <a:xfrm>
            <a:off x="548640" y="5532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→ (retroalimenta o MMM/MTA)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Loop de Governança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30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31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17 · FEATURE STORE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31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Especificação Técnica — Feature Store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31"/>
          <p:cNvSpPr/>
          <p:nvPr/>
        </p:nvSpPr>
        <p:spPr>
          <a:xfrm>
            <a:off x="457200" y="123444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Duas tabelas-fato derivadas da mesma fonte (GA4 export no BigQuery), com granularidades diferentes: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31"/>
          <p:cNvSpPr/>
          <p:nvPr/>
        </p:nvSpPr>
        <p:spPr>
          <a:xfrm>
            <a:off x="457200" y="1645920"/>
            <a:ext cx="5440680" cy="4617720"/>
          </a:xfrm>
          <a:prstGeom prst="roundRect">
            <a:avLst>
              <a:gd fmla="val 1188" name="adj"/>
            </a:avLst>
          </a:prstGeom>
          <a:solidFill>
            <a:srgbClr val="E8F1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31"/>
          <p:cNvSpPr/>
          <p:nvPr/>
        </p:nvSpPr>
        <p:spPr>
          <a:xfrm>
            <a:off x="658368" y="17830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ourier New"/>
                <a:ea typeface="Courier New"/>
                <a:cs typeface="Courier New"/>
                <a:sym typeface="Courier New"/>
              </a:rPr>
              <a:t>fct_mmm_weekly  (grão: semana × canal)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31"/>
          <p:cNvSpPr/>
          <p:nvPr/>
        </p:nvSpPr>
        <p:spPr>
          <a:xfrm>
            <a:off x="685800" y="21945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week_start_date  DATE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31"/>
          <p:cNvSpPr/>
          <p:nvPr/>
        </p:nvSpPr>
        <p:spPr>
          <a:xfrm>
            <a:off x="685800" y="250088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channel           STRING  (google_ads, meta_ads, tiktok_ads...)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31"/>
          <p:cNvSpPr/>
          <p:nvPr/>
        </p:nvSpPr>
        <p:spPr>
          <a:xfrm>
            <a:off x="685800" y="280720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spend             FLOAT64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31"/>
          <p:cNvSpPr/>
          <p:nvPr/>
        </p:nvSpPr>
        <p:spPr>
          <a:xfrm>
            <a:off x="685800" y="31135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impressions       INT64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31"/>
          <p:cNvSpPr/>
          <p:nvPr/>
        </p:nvSpPr>
        <p:spPr>
          <a:xfrm>
            <a:off x="685800" y="34198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clicks            INT64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31"/>
          <p:cNvSpPr/>
          <p:nvPr/>
        </p:nvSpPr>
        <p:spPr>
          <a:xfrm>
            <a:off x="685800" y="37261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conversions       INT64  (purchase)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31"/>
          <p:cNvSpPr/>
          <p:nvPr/>
        </p:nvSpPr>
        <p:spPr>
          <a:xfrm>
            <a:off x="685800" y="40325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revenue           FLOAT64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31"/>
          <p:cNvSpPr/>
          <p:nvPr/>
        </p:nvSpPr>
        <p:spPr>
          <a:xfrm>
            <a:off x="685800" y="43388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avg_price         FLOAT64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31"/>
          <p:cNvSpPr/>
          <p:nvPr/>
        </p:nvSpPr>
        <p:spPr>
          <a:xfrm>
            <a:off x="685800" y="46451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discount_pct      FLOAT64  (de content_value/content_category)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31"/>
          <p:cNvSpPr/>
          <p:nvPr/>
        </p:nvSpPr>
        <p:spPr>
          <a:xfrm>
            <a:off x="685800" y="495147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is_holiday        BOOL  (calendário promocional)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31"/>
          <p:cNvSpPr/>
          <p:nvPr/>
        </p:nvSpPr>
        <p:spPr>
          <a:xfrm>
            <a:off x="685800" y="52578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engagement_score  FLOAT64  (screen_view, search, slider_mosaic agregados)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31"/>
          <p:cNvSpPr/>
          <p:nvPr/>
        </p:nvSpPr>
        <p:spPr>
          <a:xfrm>
            <a:off x="685800" y="556412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1A2733"/>
                </a:solidFill>
                <a:latin typeface="Courier New"/>
                <a:ea typeface="Courier New"/>
                <a:cs typeface="Courier New"/>
                <a:sym typeface="Courier New"/>
              </a:rPr>
              <a:t>competitor_index  FLOAT64  (fonte externa, opcional)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31"/>
          <p:cNvSpPr/>
          <p:nvPr/>
        </p:nvSpPr>
        <p:spPr>
          <a:xfrm>
            <a:off x="6263640" y="1645920"/>
            <a:ext cx="5440680" cy="4617720"/>
          </a:xfrm>
          <a:prstGeom prst="roundRect">
            <a:avLst>
              <a:gd fmla="val 1188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31"/>
          <p:cNvSpPr/>
          <p:nvPr/>
        </p:nvSpPr>
        <p:spPr>
          <a:xfrm>
            <a:off x="6464808" y="17830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ourier New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ourier New"/>
                <a:ea typeface="Courier New"/>
                <a:cs typeface="Courier New"/>
                <a:sym typeface="Courier New"/>
              </a:rPr>
              <a:t>fct_mta_touchpoint  (grão: evento × usuário)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1"/>
          <p:cNvSpPr/>
          <p:nvPr/>
        </p:nvSpPr>
        <p:spPr>
          <a:xfrm>
            <a:off x="6492240" y="21945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user_pseudo_id     STRING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1"/>
          <p:cNvSpPr/>
          <p:nvPr/>
        </p:nvSpPr>
        <p:spPr>
          <a:xfrm>
            <a:off x="6492240" y="250088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session_id         STRING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1"/>
          <p:cNvSpPr/>
          <p:nvPr/>
        </p:nvSpPr>
        <p:spPr>
          <a:xfrm>
            <a:off x="6492240" y="280720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event_timestamp    TIMESTAMP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31"/>
          <p:cNvSpPr/>
          <p:nvPr/>
        </p:nvSpPr>
        <p:spPr>
          <a:xfrm>
            <a:off x="6492240" y="31135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event_name         STRING  (view_item, add_to_cart...)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31"/>
          <p:cNvSpPr/>
          <p:nvPr/>
        </p:nvSpPr>
        <p:spPr>
          <a:xfrm>
            <a:off x="6492240" y="34198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channel            STRING  (Default Channel Grouping)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1"/>
          <p:cNvSpPr/>
          <p:nvPr/>
        </p:nvSpPr>
        <p:spPr>
          <a:xfrm>
            <a:off x="6492240" y="37261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campaign           STRING  (utm_campaign)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1"/>
          <p:cNvSpPr/>
          <p:nvPr/>
        </p:nvSpPr>
        <p:spPr>
          <a:xfrm>
            <a:off x="6492240" y="40325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click_id           STRING  (gclid/fbclid/ttclid, se houver)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1"/>
          <p:cNvSpPr/>
          <p:nvPr/>
        </p:nvSpPr>
        <p:spPr>
          <a:xfrm>
            <a:off x="6492240" y="433882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content_journey    STRING  (parâmetro personalizado)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1"/>
          <p:cNvSpPr/>
          <p:nvPr/>
        </p:nvSpPr>
        <p:spPr>
          <a:xfrm>
            <a:off x="6492240" y="46451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content_name       STRING  (parâmetro personalizado)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1"/>
          <p:cNvSpPr/>
          <p:nvPr/>
        </p:nvSpPr>
        <p:spPr>
          <a:xfrm>
            <a:off x="6492240" y="495147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is_conversion       BOOL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1"/>
          <p:cNvSpPr/>
          <p:nvPr/>
        </p:nvSpPr>
        <p:spPr>
          <a:xfrm>
            <a:off x="6492240" y="52578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conversion_value    FLOAT64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1"/>
          <p:cNvSpPr/>
          <p:nvPr/>
        </p:nvSpPr>
        <p:spPr>
          <a:xfrm>
            <a:off x="6492240" y="556412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970"/>
              <a:buFont typeface="Courier New"/>
              <a:buNone/>
            </a:pPr>
            <a:r>
              <a:rPr b="0" i="0" lang="en-US" sz="970" u="none" cap="none" strike="noStrike">
                <a:solidFill>
                  <a:srgbClr val="E8F1F5"/>
                </a:solidFill>
                <a:latin typeface="Courier New"/>
                <a:ea typeface="Courier New"/>
                <a:cs typeface="Courier New"/>
                <a:sym typeface="Courier New"/>
              </a:rPr>
              <a:t>touchpoint_position INT64  (ordem na jornada)</a:t>
            </a:r>
            <a:endParaRPr b="0" i="0" sz="9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Feature Store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1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31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2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18 · ROADMAP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32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Roadmap de Implementação (90 dias)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32"/>
          <p:cNvSpPr/>
          <p:nvPr/>
        </p:nvSpPr>
        <p:spPr>
          <a:xfrm>
            <a:off x="457200" y="1463040"/>
            <a:ext cx="3639312" cy="4709160"/>
          </a:xfrm>
          <a:prstGeom prst="roundRect">
            <a:avLst>
              <a:gd fmla="val 1759" name="adj"/>
            </a:avLst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32"/>
          <p:cNvSpPr/>
          <p:nvPr/>
        </p:nvSpPr>
        <p:spPr>
          <a:xfrm>
            <a:off x="685800" y="162763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32"/>
          <p:cNvSpPr/>
          <p:nvPr/>
        </p:nvSpPr>
        <p:spPr>
          <a:xfrm>
            <a:off x="685800" y="190195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Dias 1–30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32"/>
          <p:cNvSpPr/>
          <p:nvPr/>
        </p:nvSpPr>
        <p:spPr>
          <a:xfrm>
            <a:off x="685800" y="2194560"/>
            <a:ext cx="31821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Fundação de Dados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32"/>
          <p:cNvSpPr/>
          <p:nvPr/>
        </p:nvSpPr>
        <p:spPr>
          <a:xfrm>
            <a:off x="713232" y="294436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32"/>
          <p:cNvSpPr/>
          <p:nvPr/>
        </p:nvSpPr>
        <p:spPr>
          <a:xfrm>
            <a:off x="914400" y="282549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Auditar Tracking Plan/Data Layer existente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32"/>
          <p:cNvSpPr/>
          <p:nvPr/>
        </p:nvSpPr>
        <p:spPr>
          <a:xfrm>
            <a:off x="713232" y="372160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32"/>
          <p:cNvSpPr/>
          <p:nvPr/>
        </p:nvSpPr>
        <p:spPr>
          <a:xfrm>
            <a:off x="914400" y="360273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Configurar GA4 → BigQuery Export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2"/>
          <p:cNvSpPr/>
          <p:nvPr/>
        </p:nvSpPr>
        <p:spPr>
          <a:xfrm>
            <a:off x="713232" y="449884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32"/>
          <p:cNvSpPr/>
          <p:nvPr/>
        </p:nvSpPr>
        <p:spPr>
          <a:xfrm>
            <a:off x="914400" y="437997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Ingerir APIs de mídia (Google/Meta/TikTok Ads)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2"/>
          <p:cNvSpPr/>
          <p:nvPr/>
        </p:nvSpPr>
        <p:spPr>
          <a:xfrm>
            <a:off x="713232" y="527608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32"/>
          <p:cNvSpPr/>
          <p:nvPr/>
        </p:nvSpPr>
        <p:spPr>
          <a:xfrm>
            <a:off x="914400" y="515721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Construir fct_mmm_weekly e fct_mta_touchpoint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32"/>
          <p:cNvSpPr/>
          <p:nvPr/>
        </p:nvSpPr>
        <p:spPr>
          <a:xfrm>
            <a:off x="4261104" y="1463040"/>
            <a:ext cx="3639312" cy="4709160"/>
          </a:xfrm>
          <a:prstGeom prst="roundRect">
            <a:avLst>
              <a:gd fmla="val 1759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32"/>
          <p:cNvSpPr/>
          <p:nvPr/>
        </p:nvSpPr>
        <p:spPr>
          <a:xfrm>
            <a:off x="4489704" y="162763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2"/>
          <p:cNvSpPr/>
          <p:nvPr/>
        </p:nvSpPr>
        <p:spPr>
          <a:xfrm>
            <a:off x="4489704" y="190195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Dias 31–60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2"/>
          <p:cNvSpPr/>
          <p:nvPr/>
        </p:nvSpPr>
        <p:spPr>
          <a:xfrm>
            <a:off x="4489704" y="2194560"/>
            <a:ext cx="31821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Modelagem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2"/>
          <p:cNvSpPr/>
          <p:nvPr/>
        </p:nvSpPr>
        <p:spPr>
          <a:xfrm>
            <a:off x="4517136" y="294436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2"/>
          <p:cNvSpPr/>
          <p:nvPr/>
        </p:nvSpPr>
        <p:spPr>
          <a:xfrm>
            <a:off x="4718304" y="282549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MMM baseline (regressão + adstock/saturação)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2"/>
          <p:cNvSpPr/>
          <p:nvPr/>
        </p:nvSpPr>
        <p:spPr>
          <a:xfrm>
            <a:off x="4517136" y="372160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2"/>
          <p:cNvSpPr/>
          <p:nvPr/>
        </p:nvSpPr>
        <p:spPr>
          <a:xfrm>
            <a:off x="4718304" y="360273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MTA heurístico + Markov Chain exploratório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2"/>
          <p:cNvSpPr/>
          <p:nvPr/>
        </p:nvSpPr>
        <p:spPr>
          <a:xfrm>
            <a:off x="4517136" y="449884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32"/>
          <p:cNvSpPr/>
          <p:nvPr/>
        </p:nvSpPr>
        <p:spPr>
          <a:xfrm>
            <a:off x="4718304" y="437997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Validação estatística (R², MAPE, VIF)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2"/>
          <p:cNvSpPr/>
          <p:nvPr/>
        </p:nvSpPr>
        <p:spPr>
          <a:xfrm>
            <a:off x="4517136" y="527608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2"/>
          <p:cNvSpPr/>
          <p:nvPr/>
        </p:nvSpPr>
        <p:spPr>
          <a:xfrm>
            <a:off x="4718304" y="515721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Comparar outputs MMM vs. DDA do GA4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32"/>
          <p:cNvSpPr/>
          <p:nvPr/>
        </p:nvSpPr>
        <p:spPr>
          <a:xfrm>
            <a:off x="8065008" y="1463040"/>
            <a:ext cx="3639312" cy="4709160"/>
          </a:xfrm>
          <a:prstGeom prst="roundRect">
            <a:avLst>
              <a:gd fmla="val 1759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32"/>
          <p:cNvSpPr/>
          <p:nvPr/>
        </p:nvSpPr>
        <p:spPr>
          <a:xfrm>
            <a:off x="8293608" y="162763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32"/>
          <p:cNvSpPr/>
          <p:nvPr/>
        </p:nvSpPr>
        <p:spPr>
          <a:xfrm>
            <a:off x="8293608" y="1901952"/>
            <a:ext cx="31821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Dias 61–90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32"/>
          <p:cNvSpPr/>
          <p:nvPr/>
        </p:nvSpPr>
        <p:spPr>
          <a:xfrm>
            <a:off x="8293608" y="2194560"/>
            <a:ext cx="31821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Ativação &amp; Governança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32"/>
          <p:cNvSpPr/>
          <p:nvPr/>
        </p:nvSpPr>
        <p:spPr>
          <a:xfrm>
            <a:off x="8321040" y="294436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32"/>
          <p:cNvSpPr/>
          <p:nvPr/>
        </p:nvSpPr>
        <p:spPr>
          <a:xfrm>
            <a:off x="8522208" y="282549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Otimizador de budget (curvas de resposta)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32"/>
          <p:cNvSpPr/>
          <p:nvPr/>
        </p:nvSpPr>
        <p:spPr>
          <a:xfrm>
            <a:off x="8321040" y="372160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2"/>
          <p:cNvSpPr/>
          <p:nvPr/>
        </p:nvSpPr>
        <p:spPr>
          <a:xfrm>
            <a:off x="8522208" y="360273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Dashboards (Looker/PBI/Tableau) para negócio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32"/>
          <p:cNvSpPr/>
          <p:nvPr/>
        </p:nvSpPr>
        <p:spPr>
          <a:xfrm>
            <a:off x="8321040" y="449884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32"/>
          <p:cNvSpPr/>
          <p:nvPr/>
        </p:nvSpPr>
        <p:spPr>
          <a:xfrm>
            <a:off x="8522208" y="437997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Documentar QA, versionamento e retraining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32"/>
          <p:cNvSpPr/>
          <p:nvPr/>
        </p:nvSpPr>
        <p:spPr>
          <a:xfrm>
            <a:off x="8321040" y="5276088"/>
            <a:ext cx="73152" cy="7315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32"/>
          <p:cNvSpPr/>
          <p:nvPr/>
        </p:nvSpPr>
        <p:spPr>
          <a:xfrm>
            <a:off x="8522208" y="5157216"/>
            <a:ext cx="2953512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Plano de geo-experiments para calibração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Roadmap de Implementação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32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32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33"/>
          <p:cNvSpPr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19 · GOVERNANÇA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33"/>
          <p:cNvSpPr/>
          <p:nvPr/>
        </p:nvSpPr>
        <p:spPr>
          <a:xfrm>
            <a:off x="457200" y="566928"/>
            <a:ext cx="11247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Governança, QA e Boas Práticas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33"/>
          <p:cNvSpPr/>
          <p:nvPr/>
        </p:nvSpPr>
        <p:spPr>
          <a:xfrm>
            <a:off x="457200" y="1463040"/>
            <a:ext cx="5440680" cy="4663440"/>
          </a:xfrm>
          <a:prstGeom prst="roundRect">
            <a:avLst>
              <a:gd fmla="val 1373" name="adj"/>
            </a:avLst>
          </a:prstGeom>
          <a:solidFill>
            <a:srgbClr val="F7FAFB"/>
          </a:solidFill>
          <a:ln cap="flat" cmpd="sng" w="15875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3"/>
          <p:cNvSpPr/>
          <p:nvPr/>
        </p:nvSpPr>
        <p:spPr>
          <a:xfrm>
            <a:off x="457200" y="1463040"/>
            <a:ext cx="5440680" cy="59436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3"/>
          <p:cNvSpPr/>
          <p:nvPr/>
        </p:nvSpPr>
        <p:spPr>
          <a:xfrm>
            <a:off x="457200" y="1463040"/>
            <a:ext cx="5440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FAÇA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33"/>
          <p:cNvSpPr/>
          <p:nvPr/>
        </p:nvSpPr>
        <p:spPr>
          <a:xfrm>
            <a:off x="731520" y="2286000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✓ Versionar Tracking Plan e modelos (MMM/MTA) em repositório com changelog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33"/>
          <p:cNvSpPr/>
          <p:nvPr/>
        </p:nvSpPr>
        <p:spPr>
          <a:xfrm>
            <a:off x="731520" y="3127248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✓ Validar em ambiente de homologação (GTM Preview + GA4 DebugView) antes de publicar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33"/>
          <p:cNvSpPr/>
          <p:nvPr/>
        </p:nvSpPr>
        <p:spPr>
          <a:xfrm>
            <a:off x="731520" y="3968496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✓ Revisar coeficientes do MMM periodicamente (trimestral) — mercado muda, o modelo precisa acompanhar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33"/>
          <p:cNvSpPr/>
          <p:nvPr/>
        </p:nvSpPr>
        <p:spPr>
          <a:xfrm>
            <a:off x="731520" y="4809744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✓ Rodar geo-experiments/holdouts para calibrar o MMM contra causalidade real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3"/>
          <p:cNvSpPr/>
          <p:nvPr/>
        </p:nvSpPr>
        <p:spPr>
          <a:xfrm>
            <a:off x="731520" y="5650992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✓ Documentar toda decisão de modelagem (por que log-log, por que essa janela de conversão etc.)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7" name="Google Shape;1017;p33"/>
          <p:cNvSpPr/>
          <p:nvPr/>
        </p:nvSpPr>
        <p:spPr>
          <a:xfrm>
            <a:off x="6263640" y="1463040"/>
            <a:ext cx="5440680" cy="4663440"/>
          </a:xfrm>
          <a:prstGeom prst="roundRect">
            <a:avLst>
              <a:gd fmla="val 1373" name="adj"/>
            </a:avLst>
          </a:prstGeom>
          <a:solidFill>
            <a:srgbClr val="F7FAFB"/>
          </a:solidFill>
          <a:ln cap="flat" cmpd="sng" w="15875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3"/>
          <p:cNvSpPr/>
          <p:nvPr/>
        </p:nvSpPr>
        <p:spPr>
          <a:xfrm>
            <a:off x="6263640" y="1463040"/>
            <a:ext cx="544068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33"/>
          <p:cNvSpPr/>
          <p:nvPr/>
        </p:nvSpPr>
        <p:spPr>
          <a:xfrm>
            <a:off x="6263640" y="1463040"/>
            <a:ext cx="5440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EVITE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33"/>
          <p:cNvSpPr/>
          <p:nvPr/>
        </p:nvSpPr>
        <p:spPr>
          <a:xfrm>
            <a:off x="6537960" y="2286000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✗ Comparar cegamente crédito do MTA com contribuição do MMM sem entender que medem coisas diferentes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33"/>
          <p:cNvSpPr/>
          <p:nvPr/>
        </p:nvSpPr>
        <p:spPr>
          <a:xfrm>
            <a:off x="6537960" y="3127248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✗ Usar last-click como única fonte de verdade para decisão de budget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3"/>
          <p:cNvSpPr/>
          <p:nvPr/>
        </p:nvSpPr>
        <p:spPr>
          <a:xfrm>
            <a:off x="6537960" y="3968496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✗ Publicar mudança no Data Layer sem QA (Tag Assistant, Network tab, GA4 DebugView)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3"/>
          <p:cNvSpPr/>
          <p:nvPr/>
        </p:nvSpPr>
        <p:spPr>
          <a:xfrm>
            <a:off x="6537960" y="4809744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✗ Deixar o modelo de MMM "engessado" sem retraining — leva a recomendações desatualizadas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3"/>
          <p:cNvSpPr/>
          <p:nvPr/>
        </p:nvSpPr>
        <p:spPr>
          <a:xfrm>
            <a:off x="6537960" y="5650992"/>
            <a:ext cx="48920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3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733"/>
                </a:solidFill>
                <a:latin typeface="Calibri"/>
                <a:ea typeface="Calibri"/>
                <a:cs typeface="Calibri"/>
                <a:sym typeface="Calibri"/>
              </a:rPr>
              <a:t>✗ Ignorar Consent Mode / privacidade ao desenhar o pipeline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Governança e QA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33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33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34"/>
          <p:cNvSpPr/>
          <p:nvPr/>
        </p:nvSpPr>
        <p:spPr>
          <a:xfrm>
            <a:off x="-1371600" y="4206240"/>
            <a:ext cx="3108960" cy="310896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34"/>
          <p:cNvSpPr/>
          <p:nvPr/>
        </p:nvSpPr>
        <p:spPr>
          <a:xfrm>
            <a:off x="-914400" y="4480560"/>
            <a:ext cx="2743200" cy="274320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5" name="Google Shape;1035;p34"/>
          <p:cNvSpPr/>
          <p:nvPr/>
        </p:nvSpPr>
        <p:spPr>
          <a:xfrm>
            <a:off x="-457200" y="4754880"/>
            <a:ext cx="2377440" cy="237744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34"/>
          <p:cNvSpPr/>
          <p:nvPr/>
        </p:nvSpPr>
        <p:spPr>
          <a:xfrm>
            <a:off x="0" y="5029200"/>
            <a:ext cx="2011680" cy="201168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34"/>
          <p:cNvSpPr/>
          <p:nvPr/>
        </p:nvSpPr>
        <p:spPr>
          <a:xfrm>
            <a:off x="457200" y="5303520"/>
            <a:ext cx="1645920" cy="1645920"/>
          </a:xfrm>
          <a:prstGeom prst="ellipse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34"/>
          <p:cNvSpPr/>
          <p:nvPr/>
        </p:nvSpPr>
        <p:spPr>
          <a:xfrm>
            <a:off x="640080" y="822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34"/>
          <p:cNvSpPr/>
          <p:nvPr/>
        </p:nvSpPr>
        <p:spPr>
          <a:xfrm>
            <a:off x="640080" y="11887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Do Framework ao Sistema de ML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34"/>
          <p:cNvSpPr/>
          <p:nvPr/>
        </p:nvSpPr>
        <p:spPr>
          <a:xfrm>
            <a:off x="640080" y="2286000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4"/>
          <p:cNvSpPr/>
          <p:nvPr/>
        </p:nvSpPr>
        <p:spPr>
          <a:xfrm>
            <a:off x="640080" y="226771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2" name="Google Shape;1042;p34"/>
          <p:cNvSpPr/>
          <p:nvPr/>
        </p:nvSpPr>
        <p:spPr>
          <a:xfrm>
            <a:off x="1143000" y="224028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Validar com o time este documento e priorizar canais (Google/Meta/TikTok) para o piloto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34"/>
          <p:cNvSpPr/>
          <p:nvPr/>
        </p:nvSpPr>
        <p:spPr>
          <a:xfrm>
            <a:off x="640080" y="2944368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4"/>
          <p:cNvSpPr/>
          <p:nvPr/>
        </p:nvSpPr>
        <p:spPr>
          <a:xfrm>
            <a:off x="640080" y="2926080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5" name="Google Shape;1045;p34"/>
          <p:cNvSpPr/>
          <p:nvPr/>
        </p:nvSpPr>
        <p:spPr>
          <a:xfrm>
            <a:off x="1143000" y="289864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Executar Fase 1 do roadmap: fundação de dados (GA4 → BQ, ingestão de mídia)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34"/>
          <p:cNvSpPr/>
          <p:nvPr/>
        </p:nvSpPr>
        <p:spPr>
          <a:xfrm>
            <a:off x="640080" y="3602736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34"/>
          <p:cNvSpPr/>
          <p:nvPr/>
        </p:nvSpPr>
        <p:spPr>
          <a:xfrm>
            <a:off x="640080" y="3584448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34"/>
          <p:cNvSpPr/>
          <p:nvPr/>
        </p:nvSpPr>
        <p:spPr>
          <a:xfrm>
            <a:off x="1143000" y="3557016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Construir o primeiro MMM baseline (BQML) e o MTA heurístico em paralelo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34"/>
          <p:cNvSpPr/>
          <p:nvPr/>
        </p:nvSpPr>
        <p:spPr>
          <a:xfrm>
            <a:off x="640080" y="4261104"/>
            <a:ext cx="329184" cy="32918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34"/>
          <p:cNvSpPr/>
          <p:nvPr/>
        </p:nvSpPr>
        <p:spPr>
          <a:xfrm>
            <a:off x="640080" y="424281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4"/>
          <p:cNvSpPr/>
          <p:nvPr/>
        </p:nvSpPr>
        <p:spPr>
          <a:xfrm>
            <a:off x="1143000" y="4215384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F1F5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E8F1F5"/>
                </a:solidFill>
                <a:latin typeface="Calibri"/>
                <a:ea typeface="Calibri"/>
                <a:cs typeface="Calibri"/>
                <a:sym typeface="Calibri"/>
              </a:rPr>
              <a:t>Evoluir para MMM Bayesiano (Python) e Markov Chain assim que a base estiver estável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34"/>
          <p:cNvSpPr/>
          <p:nvPr/>
        </p:nvSpPr>
        <p:spPr>
          <a:xfrm>
            <a:off x="640080" y="5486400"/>
            <a:ext cx="4206240" cy="50292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3" name="Google Shape;1053;p34"/>
          <p:cNvSpPr/>
          <p:nvPr/>
        </p:nvSpPr>
        <p:spPr>
          <a:xfrm>
            <a:off x="640080" y="548640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Documentação Executiva + Técnica · PT-BR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Próximos Passos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4"/>
          <p:cNvSpPr/>
          <p:nvPr/>
        </p:nvSpPr>
        <p:spPr>
          <a:xfrm>
            <a:off x="4480560" y="647395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MMM x MTA — Framework de Digital Analytics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6" name="Google Shape;1056;p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B77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B77"/>
                </a:solidFill>
                <a:latin typeface="Calibri"/>
                <a:ea typeface="Calibri"/>
                <a:cs typeface="Calibri"/>
                <a:sym typeface="Calibri"/>
              </a:rPr>
              <a:t>34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2026-08-15T17:06:18Z</dcterms:created>
  <dc:creator>PptxGenJS</dc:creator>
</cp:coreProperties>
</file>